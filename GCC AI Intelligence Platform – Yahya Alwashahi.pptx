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972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GCC AI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16352"/>
            <a:ext cx="6400800" cy="64008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44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C96E"/>
                </a:solidFill>
              </a:rPr>
              <a:t>منصة الذكاء الاصطناعي لتوظيف الشباب الخليجي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AI-Powered Youth Employment Forecasting &amp; Policy Intelligence for the Gulf Cooperation Council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1596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C96E"/>
                </a:solidFill>
              </a:rPr>
              <a:t>تنبؤ بتوظيف الشباب ودعم قرارات السياسات الخليجية بالذكاء الاصطناعي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5074920"/>
            <a:ext cx="11987784" cy="178308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9379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39B4E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15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GCC 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716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C96E"/>
                </a:solidFill>
              </a:rPr>
              <a:t>دول خليجية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19379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39B4E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815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60716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C96E"/>
                </a:solidFill>
              </a:rPr>
              <a:t>مؤشرات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19379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39B4E"/>
                </a:solidFill>
              </a:rPr>
              <a:t>15 Yrs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815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0716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C96E"/>
                </a:solidFill>
              </a:rPr>
              <a:t>بيانات حقيقية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19379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39B4E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815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AI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0716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C96E"/>
                </a:solidFill>
              </a:rPr>
              <a:t>نماذج ذكاء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19379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39B4E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815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60716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C96E"/>
                </a:solidFill>
              </a:rPr>
              <a:t>سيناريوهات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19379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39B4E"/>
                </a:solidFill>
              </a:rPr>
              <a:t>EN+AR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815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Bilingual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0716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C96E"/>
                </a:solidFill>
              </a:rPr>
              <a:t>ثنائي اللغة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1600200"/>
            <a:ext cx="2651760" cy="32004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39B4E"/>
                </a:solidFill>
              </a:rPr>
              <a:t>SUBMITTED 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993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Yahya Alwashahi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514600"/>
            <a:ext cx="2286000" cy="36576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651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39B4E"/>
                </a:solidFill>
              </a:rPr>
              <a:t>🔗 LIVE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9443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FFFFFF"/>
                </a:solidFill>
              </a:rPr>
              <a:t>competition-efvjqtcbnxcvt3te6fqkaw
.streamlit.app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703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</a:rPr>
              <a:t>Data: World Bank Open Data API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Challenge: GCC Youth Unemployment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التحدي: بطالة الشباب في دول مجلس التعاون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المشكلة
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4389120" cy="502920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39B4E"/>
                </a:solidFill>
              </a:rPr>
              <a:t>📊  THE CHALLENGE IN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190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C96E"/>
                </a:solidFill>
              </a:rPr>
              <a:t>التحدي بالأرقام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03120"/>
            <a:ext cx="420624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5798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39B4E"/>
                </a:solidFill>
              </a:rPr>
              <a:t>30%+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17627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Youth unemployment in some GCC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4871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معدل بطالة الشباب في بعض دول المجلس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08960"/>
            <a:ext cx="420624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6382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39B4E"/>
                </a:solidFill>
              </a:rPr>
              <a:t>3.5%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8211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Lowest rate — UAE &amp; Qatar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أدنى معدل — الإمارات وقطر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14800"/>
            <a:ext cx="420624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6966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39B4E"/>
                </a:solidFill>
              </a:rPr>
              <a:t>60M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18795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People in the GCC workforce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498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شخص في منظومة العمل الخليجية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120640"/>
            <a:ext cx="4206240" cy="822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17550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39B4E"/>
                </a:solidFill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193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Strategic priority for all 6 national visions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504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الأولوية الاستراتيجية لجميع رؤى المجلس الست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83480" y="1298448"/>
            <a:ext cx="6903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3480" y="1298448"/>
            <a:ext cx="690372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1353312"/>
            <a:ext cx="6583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⚠  THE POLICY INTELLIGENCE GAP  —  الفجوة في الذكاء السياسي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1901952"/>
            <a:ext cx="457200" cy="65836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190195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1938528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1320"/>
                </a:solidFill>
              </a:rPr>
              <a:t>Fragmented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224942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بيانات مشتتة عبر جهات متعددة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2770632"/>
            <a:ext cx="457200" cy="65836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277063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2807208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1320"/>
                </a:solidFill>
              </a:rPr>
              <a:t>No Regional Benchmark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11810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لا توجد مقارنة إقليمية موحدة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3639312"/>
            <a:ext cx="457200" cy="65836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63931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3675888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1320"/>
                </a:solidFill>
              </a:rPr>
              <a:t>No Forward 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398678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لا توجد رؤية تنبؤية مستقبلية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4507992"/>
            <a:ext cx="457200" cy="65836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50799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544568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1320"/>
                </a:solidFill>
              </a:rPr>
              <a:t>No Scenario Modelling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485546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لا توجد محاكاة لتأثير السياسات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74920" y="5376672"/>
            <a:ext cx="457200" cy="65836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537667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5413248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1320"/>
                </a:solidFill>
              </a:rPr>
              <a:t>No Bilingual 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572414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لا توجد تقارير ثنائية اللغة للوزارات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Solution: One Platform. Full Intelligence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الحل: منصة واحدة. دورة ذكاء كاملة.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الحل
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48872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GCC AI Intelligence Platform answers the three questions every GCC policymaker asks:  Where are we?  ·  Where are we heading?  ·  What should we do?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3749039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76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🌍  GCC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505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C96E"/>
                </a:solidFill>
              </a:rPr>
              <a:t>نظرة إقليمية شاملة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3749039" cy="1444752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163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91320"/>
                </a:solidFill>
              </a:rPr>
              <a:t>Six-country live dashboard · AI risk badges · YoY heatmap · GCC benchmarking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103120"/>
            <a:ext cx="3749039" cy="59436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176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🔍  COUNTRY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4505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C96E"/>
                </a:solidFill>
              </a:rPr>
              <a:t>استكشاف معمق للدول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2697480"/>
            <a:ext cx="3749039" cy="1444752"/>
          </a:xfrm>
          <a:prstGeom prst="rect">
            <a:avLst/>
          </a:prstGeom>
          <a:solidFill>
            <a:srgbClr val="FFFFFF"/>
          </a:solidFill>
          <a:ln w="25400"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28163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91320"/>
                </a:solidFill>
              </a:rPr>
              <a:t>KPIs · 15-year trend · strategic alerts · all-indicators snapshot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2103120"/>
            <a:ext cx="3749039" cy="5943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176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📈  FORECAST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4505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C96E"/>
                </a:solidFill>
              </a:rPr>
              <a:t>مركز التنبؤ بالذكاء الاصطناعي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2697480"/>
            <a:ext cx="3749039" cy="1444752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28163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91320"/>
                </a:solidFill>
              </a:rPr>
              <a:t>6 AI models · auto-selection via cross-validation · trust score · confidence tiers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43400"/>
            <a:ext cx="3749039" cy="59436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16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🤖  AI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908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C96E"/>
                </a:solidFill>
              </a:rPr>
              <a:t>رؤى الذكاء الاصطناعي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37760"/>
            <a:ext cx="3749039" cy="1444752"/>
          </a:xfrm>
          <a:prstGeom prst="rect">
            <a:avLst/>
          </a:prstGeom>
          <a:solidFill>
            <a:srgbClr val="FFFFFF"/>
          </a:solidFill>
          <a:ln w="25400">
            <a:solidFill>
              <a:srgbClr val="148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91320"/>
                </a:solidFill>
              </a:rPr>
              <a:t>Bilingual EN/AR reports · 8 risk profiles · alerts · policy recommendations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0248" y="4343400"/>
            <a:ext cx="3749039" cy="594360"/>
          </a:xfrm>
          <a:prstGeom prst="rect">
            <a:avLst/>
          </a:prstGeom>
          <a:solidFill>
            <a:srgbClr val="C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4416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⚙️  SCENARIO SIMULATOR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6908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C96E"/>
                </a:solidFill>
              </a:rPr>
              <a:t>محاكاة السيناريوهات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937760"/>
            <a:ext cx="3749039" cy="1444752"/>
          </a:xfrm>
          <a:prstGeom prst="rect">
            <a:avLst/>
          </a:prstGeom>
          <a:solidFill>
            <a:srgbClr val="FFFFFF"/>
          </a:solidFill>
          <a:ln w="25400">
            <a:solidFill>
              <a:srgbClr val="C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505663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91320"/>
                </a:solidFill>
              </a:rPr>
              <a:t>8 policy presets · elasticity model · GCC-wide rank shift simulation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4343400"/>
            <a:ext cx="3749039" cy="59436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6" y="4416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🔬  EXPLAINABILITY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6908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C96E"/>
                </a:solidFill>
              </a:rPr>
              <a:t>الشفافية والمصداقية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0456" y="4937760"/>
            <a:ext cx="3749039" cy="1444752"/>
          </a:xfrm>
          <a:prstGeom prst="rect">
            <a:avLst/>
          </a:prstGeom>
          <a:solidFill>
            <a:srgbClr val="FFFFFF"/>
          </a:solidFill>
          <a:ln w="25400">
            <a:solidFill>
              <a:srgbClr val="A9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6" y="505663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91320"/>
                </a:solidFill>
              </a:rPr>
              <a:t>Trust score 0–100 · driver intelligence · responsible AI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Works: Data to Decision in One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آلية التنفيذ: من البيانات إلى القرار في خطوة واحدة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آلية التنفيذ
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" y="1325880"/>
            <a:ext cx="2148840" cy="9601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362456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🌐 WORLD BANK
OPEN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91109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C96E"/>
                </a:solidFill>
              </a:rPr>
              <a:t>بيانات البنك
الدولي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" y="2286000"/>
            <a:ext cx="2148840" cy="3474720"/>
          </a:xfrm>
          <a:prstGeom prst="rect">
            <a:avLst/>
          </a:prstGeom>
          <a:solidFill>
            <a:srgbClr val="FFFFFF"/>
          </a:solidFill>
          <a:ln w="2286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77440"/>
            <a:ext cx="19293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5 official indicators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6 GCC nations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2010–2024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REST API + CSV offline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97180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325880"/>
            <a:ext cx="214884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362456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🗄 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191109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C96E"/>
                </a:solidFill>
              </a:rPr>
              <a:t>طبقة البيانات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5184" y="2286000"/>
            <a:ext cx="2148840" cy="3474720"/>
          </a:xfrm>
          <a:prstGeom prst="rect">
            <a:avLst/>
          </a:prstGeom>
          <a:solidFill>
            <a:srgbClr val="FFFFFF"/>
          </a:solidFill>
          <a:ln w="2286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2377440"/>
            <a:ext cx="19293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Cleaning &amp; validation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Linear interpolation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Offline-capable cache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World Bank certified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97180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0056" y="1325880"/>
            <a:ext cx="2148840" cy="96012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1496" y="1362456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🤖 6-MODEL AI
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191109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C96E"/>
                </a:solidFill>
              </a:rPr>
              <a:t>محرك الذكاء
الاصطناعي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0056" y="2286000"/>
            <a:ext cx="2148840" cy="3474720"/>
          </a:xfrm>
          <a:prstGeom prst="rect">
            <a:avLst/>
          </a:prstGeom>
          <a:solidFill>
            <a:srgbClr val="FFFFFF"/>
          </a:solidFill>
          <a:ln w="22860"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4" y="2377440"/>
            <a:ext cx="19293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Naïve · Seasonal Naïve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Moving Average · Drift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SARIMAX (AIC auto)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LightGBM (quantile CI)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297180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8" y="1325880"/>
            <a:ext cx="2148840" cy="9601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1362456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✨ INTELLIGENCE
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191109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C96E"/>
                </a:solidFill>
              </a:rPr>
              <a:t>طبقة الذكاء
الاستراتيجي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8" y="2286000"/>
            <a:ext cx="2148840" cy="3474720"/>
          </a:xfrm>
          <a:prstGeom prst="rect">
            <a:avLst/>
          </a:prstGeom>
          <a:solidFill>
            <a:srgbClr val="FFFFFF"/>
          </a:solidFill>
          <a:ln w="22860">
            <a:solidFill>
              <a:srgbClr val="C3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2377440"/>
            <a:ext cx="19293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8 risk profiles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4 alert types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Bilingual EN + AR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Trust score 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0344" y="297180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1325880"/>
            <a:ext cx="2148840" cy="9601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1362456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📊 STREAMLIT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191109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C96E"/>
                </a:solidFill>
              </a:rPr>
              <a:t>لوحة القيادة
التفاعلية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2286000"/>
            <a:ext cx="2148840" cy="3474720"/>
          </a:xfrm>
          <a:prstGeom prst="rect">
            <a:avLst/>
          </a:prstGeom>
          <a:solidFill>
            <a:srgbClr val="FFFFFF"/>
          </a:solidFill>
          <a:ln w="22860">
            <a:solidFill>
              <a:srgbClr val="09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39528" y="2377440"/>
            <a:ext cx="192938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6 pages · Plotly charts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Bilingual RTL UI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4 export formats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091320"/>
                </a:solidFill>
              </a:rPr>
              <a:t>▸ Demo flow guide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833872"/>
            <a:ext cx="11548872" cy="59436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90702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39B4E"/>
                </a:solidFill>
              </a:rPr>
              <a:t>✅  Offline-capable  ·  ✅  Automatic model selection via sMAPE CV  ·  ✅  Bilingual EN+AR generated in parallel  ·  ✅  Production-ready one-click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Six AI Models · Automatic Selection · Trust-Scored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ستة نماذج ذكاء اصطناعي · اختيار تلقائي · نتائج مُقيَّمة بدرجة ثقة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النتائج
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577840" cy="5230368"/>
          </a:xfrm>
          <a:prstGeom prst="rect">
            <a:avLst/>
          </a:prstGeom>
          <a:solidFill>
            <a:srgbClr val="F0F4F8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557784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📸  Forecast Center — Run Demo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764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أدخل صورة شاشة مركز التنبؤ هنا
(بعد تشغيل التنبؤ التجريبي)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813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39B4E"/>
                </a:solidFill>
              </a:rPr>
              <a:t>📸  Forecast Center page · Saudi Arabia · Youth Unemployment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298448"/>
            <a:ext cx="5715000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298448"/>
            <a:ext cx="57150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353312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SIX-MODEL AI ENSEMBLE — AUTOMATIC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01952"/>
            <a:ext cx="164592" cy="4754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9476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1320"/>
                </a:solidFill>
              </a:rPr>
              <a:t>Naïve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7627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Last-value persistence — baseline 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569464"/>
            <a:ext cx="164592" cy="4754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6151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1320"/>
                </a:solidFill>
              </a:rPr>
              <a:t>Seasonal Naïve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4378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Seasonal pattern replication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236976"/>
            <a:ext cx="164592" cy="4754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2826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1320"/>
                </a:solidFill>
              </a:rPr>
              <a:t>Moving Average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51129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3-period local smoothing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04487"/>
            <a:ext cx="164592" cy="4754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5020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1320"/>
                </a:solidFill>
              </a:rPr>
              <a:t>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178807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Linear trend extrapolation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572000"/>
            <a:ext cx="164592" cy="475488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617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1320"/>
                </a:solidFill>
              </a:rPr>
              <a:t>SARIMAX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84632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Seasonal autoregression · AIC order selection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239512"/>
            <a:ext cx="164592" cy="475488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5285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1320"/>
                </a:solidFill>
              </a:rPr>
              <a:t>LightGBM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51383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Gradient boosting · quantile prediction intervals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943600"/>
            <a:ext cx="553212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99846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★  Winner = lowest sMAPE on expanding-window holdout folds · sMAPE &lt; 5% = A+ · &lt; 12% =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Ministry-Grade AI Reports — English &amp;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تقارير ذكاء اصطناعي بمستوى وزاري — إنجليزي وعربي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النتائج
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577840" cy="2423160"/>
          </a:xfrm>
          <a:prstGeom prst="rect">
            <a:avLst/>
          </a:prstGeom>
          <a:solidFill>
            <a:srgbClr val="F0F4F8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557784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53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📸  AI Insights — Risk Panel + Strategic Alerts (English)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728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صورة شاشة: رؤى الذكاء الاصطناعي — لوحة المخاطر والتنبيهات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3741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39B4E"/>
                </a:solidFill>
              </a:rPr>
              <a:t>📸  AI Insights page · Saudi Arabia · English 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5577840" cy="2633472"/>
          </a:xfrm>
          <a:prstGeom prst="rect">
            <a:avLst/>
          </a:prstGeom>
          <a:solidFill>
            <a:srgbClr val="F0F4F8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557784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9410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📸  AI Insights — Arabic Tab (العربية)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657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صورة شاشة: التقرير العربي للذكاء الاصطناعي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172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39B4E"/>
                </a:solidFill>
              </a:rPr>
              <a:t>📸  AI Insights page · Arabic tab — RTL ministry-grade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298448"/>
            <a:ext cx="5715000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298448"/>
            <a:ext cx="5715000" cy="43891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3533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🤖  WHAT THE AI GENERATES — ما يُنتجه الذكاء الاصطناعي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01952"/>
            <a:ext cx="109728" cy="86868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385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93226"/>
                </a:solidFill>
              </a:rPr>
              <a:t>⚡  RISK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24942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تصنيف المخاطر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468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91320"/>
                </a:solidFill>
              </a:rPr>
              <a:t>8 dynamic risk labels auto-assigned
بناءً على الاتجاه والتقلب والنطاق المستهدف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999232"/>
            <a:ext cx="109728" cy="868680"/>
          </a:xfrm>
          <a:prstGeom prst="rect">
            <a:avLst/>
          </a:prstGeom>
          <a:solidFill>
            <a:srgbClr val="C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0358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7820"/>
                </a:solidFill>
              </a:rPr>
              <a:t>🔔  STRATEGIC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34670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تنبيهات استراتيجية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566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91320"/>
                </a:solidFill>
              </a:rPr>
              <a:t>Up to 4 auto-generated alerts per forecast
تنبيهات تلقائية: مستوى حرج، تحوّل سنوي، انحراف عن المتوسط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096512"/>
            <a:ext cx="109728" cy="868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1330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4F72"/>
                </a:solidFill>
              </a:rPr>
              <a:t>📝  EXECUTIVE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44398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الموجز التنفيذي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91320"/>
                </a:solidFill>
              </a:rPr>
              <a:t>Full bilingual narrative — EN + AR in parallel
تقرير ثنائي اللغة جاهز للتنزيل خلال 60 ثانية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193792"/>
            <a:ext cx="109728" cy="8686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52303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A"/>
                </a:solidFill>
              </a:rPr>
              <a:t>📊  GCC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554126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المقارنة الإقليمية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5760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91320"/>
                </a:solidFill>
              </a:rPr>
              <a:t>Country vs GCC average — auto-generated
تحليل مقارن: أين تقف الدولة بين أقرانها الخليجيين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the Future Before Committing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محاكاة المستقبل قبل اتخاذ القرار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النتائج
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48872" cy="530352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C39B4E"/>
                </a:solidFill>
              </a:rPr>
              <a:t>Scenario[t]  =  Baseline[t]  +  Σ (elasticity_i × delta_i)  ×  (t / horizon)   ←  elasticity-based policy ramp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65960"/>
            <a:ext cx="2788920" cy="53035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0025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📊 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2402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الخط الأساسي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3801504040" y="1965960"/>
            <a:ext cx="2788920" cy="530352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801613768" y="20025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⚡  Digital Acceleration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801613768" y="22402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تسريع رقمي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67602688040" y="1965960"/>
            <a:ext cx="2788920" cy="530352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7602797768" y="20025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📉  Economic Slowdown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7602797768" y="22402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تباطؤ اقتصادي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1403872040" y="1965960"/>
            <a:ext cx="2788920" cy="530352"/>
          </a:xfrm>
          <a:prstGeom prst="rect">
            <a:avLst/>
          </a:prstGeom>
          <a:solidFill>
            <a:srgbClr val="C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1403981768" y="20025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🔥  Inflation Stress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1403981768" y="22402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ضغط تضخمي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02013665160"/>
            <a:ext cx="2788920" cy="530352"/>
          </a:xfrm>
          <a:prstGeom prst="rect">
            <a:avLst/>
          </a:prstGeom>
          <a:solidFill>
            <a:srgbClr val="1A7A4A"/>
          </a:solidFill>
          <a:ln w="31750">
            <a:solidFill>
              <a:srgbClr val="C3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6020137017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39B4E"/>
                </a:solidFill>
              </a:rPr>
              <a:t>🏗  Reform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6020139394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توسع الإصلاح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33801504040" y="602013665160"/>
            <a:ext cx="2788920" cy="5303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801613768" y="6020137017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🌱  Youth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801613768" y="6020139394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تعافي الشباب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67602688040" y="602013665160"/>
            <a:ext cx="2788920" cy="5303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67602797768" y="6020137017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👥  Population Surge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7602797768" y="6020139394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نمو سكاني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1403872040" y="602013665160"/>
            <a:ext cx="2788920" cy="530352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1403981768" y="6020137017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C96E"/>
                </a:solidFill>
              </a:rPr>
              <a:t>🚀  High Growth GCC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1403981768" y="6020139394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نمو خليجي مرتفع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19272"/>
            <a:ext cx="11548872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3832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★  ACTIVE: Reform Expansion — Labour reform + Education investment + GDP growth → reduces youth unemployment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858768"/>
            <a:ext cx="2743200" cy="2651760"/>
          </a:xfrm>
          <a:prstGeom prst="rect">
            <a:avLst/>
          </a:prstGeom>
          <a:solidFill>
            <a:srgbClr val="FFFFFF"/>
          </a:solidFill>
          <a:ln w="317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858768"/>
            <a:ext cx="274320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9136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Baseline 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31596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88888"/>
                </a:solidFill>
              </a:rPr>
              <a:t>13.8%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230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نهاية الخط الأساسي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Youth unemployment 2027 — no 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3858768"/>
            <a:ext cx="2743200" cy="2651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18688" y="3858768"/>
            <a:ext cx="274320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39136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Scenario 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18688" y="431596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7A4A"/>
                </a:solidFill>
              </a:rPr>
              <a:t>11.3%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0128" y="5230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نتيجة السيناريو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0128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Under Reform Expansion preset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17336" y="3858768"/>
            <a:ext cx="2743200" cy="2651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48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17336" y="3858768"/>
            <a:ext cx="2743200" cy="34747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39136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17336" y="431596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48F77"/>
                </a:solidFill>
              </a:rPr>
              <a:t>−2.5pp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08776" y="5230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التحسن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08776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Percentage point delta from baseline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15984" y="3858768"/>
            <a:ext cx="2743200" cy="2651760"/>
          </a:xfrm>
          <a:prstGeom prst="rect">
            <a:avLst/>
          </a:prstGeom>
          <a:solidFill>
            <a:srgbClr val="FFFFFF"/>
          </a:solidFill>
          <a:ln w="31750">
            <a:solidFill>
              <a:srgbClr val="C3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15984" y="3858768"/>
            <a:ext cx="2743200" cy="347472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7424" y="39136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GCC Rank Shift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15984" y="431596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39B4E"/>
                </a:solidFill>
              </a:rPr>
              <a:t>#4→#2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07424" y="5230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تغير الترتيب الخليجي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07424" y="5577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Saudi Arabia rises among GCC peers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That Earns Institutional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ذكاء اصطناعي يكسب الثقة المؤسسية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النتائج
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48872" cy="1078992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109728" cy="1078992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533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39B4E"/>
                </a:solidFill>
              </a:rPr>
              <a:t>TRUST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27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8C96E"/>
                </a:solidFill>
              </a:rPr>
              <a:t>درجة الثقة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01952"/>
            <a:ext cx="1325880" cy="347472"/>
          </a:xfrm>
          <a:prstGeom prst="rect">
            <a:avLst/>
          </a:prstGeom>
          <a:solidFill>
            <a:srgbClr val="C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01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74 /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4630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Elevated Uncertainty  ·  LightGBM  ·  sMAPE 10.4%  ·  Saudi Arabia · Youth Unemployment  ·  Tier C — Use alongside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901952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8C96E"/>
                </a:solidFill>
              </a:rPr>
              <a:t>World Bank Open Data  ·  Expanding-Window CV  ·  6-Model Ensemble  ·  Evidence-Based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14600"/>
            <a:ext cx="5303520" cy="3977639"/>
          </a:xfrm>
          <a:prstGeom prst="rect">
            <a:avLst/>
          </a:prstGeom>
          <a:solidFill>
            <a:srgbClr val="F0F4F8"/>
          </a:solidFill>
          <a:ln w="1905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514600"/>
            <a:ext cx="530352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5694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📸  Explainability — Trust Header + Driver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662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صورة شاشة: لوحة الثقة وذكاء العوامل المحركة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14476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C39B4E"/>
                </a:solidFill>
              </a:rPr>
              <a:t>📸  Explainability page · Saudi Arabia · after running forecast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514600"/>
            <a:ext cx="2944368" cy="1901952"/>
          </a:xfrm>
          <a:prstGeom prst="rect">
            <a:avLst/>
          </a:prstGeom>
          <a:solidFill>
            <a:srgbClr val="FFFFFF"/>
          </a:solidFill>
          <a:ln w="25400">
            <a:solidFill>
              <a:srgbClr val="C3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2514600"/>
            <a:ext cx="2944368" cy="475488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5896" y="258775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🎯  TRUST SCORE 0–100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2825496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درجة ثقة 0–100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5896" y="3081528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4 signals: sMAPE + horizon + interval width + volatility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Single reliable metric for policymakers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25128" y="2514600"/>
            <a:ext cx="2944368" cy="1901952"/>
          </a:xfrm>
          <a:prstGeom prst="rect">
            <a:avLst/>
          </a:prstGeom>
          <a:solidFill>
            <a:srgbClr val="FFFFFF"/>
          </a:solidFill>
          <a:ln w="25400"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25128" y="2514600"/>
            <a:ext cx="2944368" cy="475488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258775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🔑  DRIVER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2825496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ذكاء العوامل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3081528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LightGBM importances → policy-readable narratives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Top drivers ranked with bilingual explanations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4572000"/>
            <a:ext cx="2944368" cy="1901952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4572000"/>
            <a:ext cx="2944368" cy="47548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5896" y="464515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📐  CONFIDENCE TIERS A–E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25896" y="4882896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مستويات الثقة A–E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5896" y="5138928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A (≥85): Strategic planning confidence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C (≥55): Elevated uncertainty — use with scenarios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5128" y="4572000"/>
            <a:ext cx="2944368" cy="1901952"/>
          </a:xfrm>
          <a:prstGeom prst="rect">
            <a:avLst/>
          </a:prstGeom>
          <a:solidFill>
            <a:srgbClr val="FFFFFF"/>
          </a:solidFill>
          <a:ln w="25400">
            <a:solidFill>
              <a:srgbClr val="148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25128" y="4572000"/>
            <a:ext cx="2944368" cy="475488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53144" y="4645152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🛡  RESPONSIBLE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3144" y="4882896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الذكاء الاصطناعي المسؤول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3144" y="5138928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Data provenance · 6 limitation caveats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091320"/>
                </a:solidFill>
              </a:rPr>
              <a:t>▸  Governance documentation · audit-ready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Societal Impact &amp; GCC Vision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C96E"/>
                </a:solidFill>
              </a:rPr>
              <a:t>الأثر المجتمعي ومواءمة الرؤى الخليجية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الأثر
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39B4E"/>
                </a:solidFill>
              </a:rPr>
              <a:t>GCC AI Intelligence Platform  ·  Yahya Alwashahi  ·  World Bank Open Data  ·  ycaward@msy.gov.qa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48872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ALIGNED WITH ALL SIX GCC NATIONAL VISIONS  —  مواءمة مع جميع الرؤى الوطنية الخليجية الست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37360"/>
            <a:ext cx="1924812" cy="12344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55648"/>
            <a:ext cx="1924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🇸🇦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194560"/>
            <a:ext cx="19248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Saudi Arabia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423160"/>
            <a:ext cx="19248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E8C96E"/>
                </a:solidFill>
              </a:rPr>
              <a:t>رؤية 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4852" y="1737360"/>
            <a:ext cx="1924812" cy="123444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4852" y="1755648"/>
            <a:ext cx="1924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🇦🇪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4852" y="2194560"/>
            <a:ext cx="19248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UAE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4852" y="2423160"/>
            <a:ext cx="19248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E8C96E"/>
                </a:solidFill>
              </a:rPr>
              <a:t>مئوية الإمارات 2071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9664" y="1737360"/>
            <a:ext cx="1924812" cy="1234440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9664" y="1755648"/>
            <a:ext cx="1924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🇶🇦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9664" y="2194560"/>
            <a:ext cx="19248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Qatar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2423160"/>
            <a:ext cx="19248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E8C96E"/>
                </a:solidFill>
              </a:rPr>
              <a:t>رؤية قطر 2030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1737360"/>
            <a:ext cx="1924812" cy="1234440"/>
          </a:xfrm>
          <a:prstGeom prst="rect">
            <a:avLst/>
          </a:prstGeom>
          <a:solidFill>
            <a:srgbClr val="C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4476" y="1755648"/>
            <a:ext cx="1924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🇰🇼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2194560"/>
            <a:ext cx="19248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Kuwait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2423160"/>
            <a:ext cx="19248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E8C96E"/>
                </a:solidFill>
              </a:rPr>
              <a:t>رؤية الكويت 2035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9288" y="1737360"/>
            <a:ext cx="1924812" cy="123444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9288" y="1755648"/>
            <a:ext cx="1924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🇧🇭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2194560"/>
            <a:ext cx="19248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Bahrain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2423160"/>
            <a:ext cx="19248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E8C96E"/>
                </a:solidFill>
              </a:rPr>
              <a:t>رؤية البحرين 2030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4100" y="1737360"/>
            <a:ext cx="1924812" cy="12344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4100" y="1755648"/>
            <a:ext cx="1924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🇴🇲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4100" y="2194560"/>
            <a:ext cx="19248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4100" y="2423160"/>
            <a:ext cx="19248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E8C96E"/>
                </a:solidFill>
              </a:rPr>
              <a:t>رؤية عُمان 2040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127248"/>
            <a:ext cx="3749039" cy="5303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" y="3182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🏛  IMMEDIATE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" y="34564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الأثر الفوري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657600"/>
            <a:ext cx="3749039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3785616"/>
            <a:ext cx="34198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Evidence-based forecasting replacing intuition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Bilingual reports ready for cabinet briefings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Strategic alerts before crises escalate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Scenario testing before budget commitment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3127248"/>
            <a:ext cx="3749039" cy="5303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8264" y="3182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🌍  REGIONAL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34564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الأثر الإقليمي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0248" y="3657600"/>
            <a:ext cx="3749039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3785616"/>
            <a:ext cx="34198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Six-nation intelligence in one platform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Policy learning: which countries lead, which lag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Regional convergence / divergence tracking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Comparative scenario analysis across all GCC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0456" y="3127248"/>
            <a:ext cx="3749039" cy="5303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48472" y="3182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🔮  LONG-TERM 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4564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96E"/>
                </a:solidFill>
              </a:rPr>
              <a:t>الأثر طويل المدى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0456" y="3657600"/>
            <a:ext cx="3749039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8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85048" y="3785616"/>
            <a:ext cx="34198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Institutional AI capacity within Gulf governments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Audit-ready responsible AI documentation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Scalable to MENA-wide coverage (15+ nations)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91320"/>
                </a:solidFill>
              </a:rPr>
              <a:t>▸  REST API layer for government portal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نقاط التميز الإبداعي  ·  Creative Distinction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7315200" cy="64008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C96E"/>
                </a:solidFill>
              </a:rPr>
              <a:t>What makes this platform stand out from any other GCC labour market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2450592"/>
          </a:xfrm>
          <a:prstGeom prst="rect">
            <a:avLst/>
          </a:prstGeom>
          <a:solidFill>
            <a:srgbClr val="1B4F72"/>
          </a:solidFill>
          <a:ln w="31750">
            <a:solidFill>
              <a:srgbClr val="C39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658368" cy="658368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132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472184"/>
            <a:ext cx="2880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Ministry-Grade Bilingual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83080"/>
            <a:ext cx="2880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C96E"/>
                </a:solidFill>
              </a:rPr>
              <a:t>الذكاء الاصطناعي الثنائي اللغة بمستوى وزاري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12264"/>
            <a:ext cx="3566159" cy="36576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2240280"/>
            <a:ext cx="3493007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</a:rPr>
              <a:t>Arabic executive reports generated in parallel — not translated. RTL-formatted, formal Modern Standard Arabic for GCC ministerial audiences.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417320"/>
            <a:ext cx="3749039" cy="2450592"/>
          </a:xfrm>
          <a:prstGeom prst="rect">
            <a:avLst/>
          </a:prstGeom>
          <a:solidFill>
            <a:srgbClr val="1B4F72"/>
          </a:solidFill>
          <a:ln w="317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417320"/>
            <a:ext cx="658368" cy="6583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417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1320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1472184"/>
            <a:ext cx="2880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That Explains Itself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1783080"/>
            <a:ext cx="2880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C96E"/>
                </a:solidFill>
              </a:rPr>
              <a:t>ذكاء اصطناعي يُفسّر نفسه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112264"/>
            <a:ext cx="3566159" cy="3657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2240280"/>
            <a:ext cx="3493007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</a:rPr>
              <a:t>Complete trust layer: 0-100 score, 5 confidence tiers, driver narratives. Every forecast comes with a full accountability trail.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17320"/>
            <a:ext cx="3749039" cy="2450592"/>
          </a:xfrm>
          <a:prstGeom prst="rect">
            <a:avLst/>
          </a:prstGeom>
          <a:solidFill>
            <a:srgbClr val="1B4F72"/>
          </a:solidFill>
          <a:ln w="31750"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1417320"/>
            <a:ext cx="658368" cy="658368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417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1320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1472184"/>
            <a:ext cx="2880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GCC-Wide Scenario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1783080"/>
            <a:ext cx="2880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C96E"/>
                </a:solidFill>
              </a:rPr>
              <a:t>محاكاة السيناريوهات على مستوى دول المجلس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1896" y="2112264"/>
            <a:ext cx="3566159" cy="36576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2240280"/>
            <a:ext cx="3493007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</a:rPr>
              <a:t>Test policy impact across ALL 6 nations simultaneously. See which country benefits most — before committing resources.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41648"/>
            <a:ext cx="5715000" cy="2450592"/>
          </a:xfrm>
          <a:prstGeom prst="rect">
            <a:avLst/>
          </a:prstGeom>
          <a:solidFill>
            <a:srgbClr val="1B4F72"/>
          </a:solidFill>
          <a:ln w="31750">
            <a:solidFill>
              <a:srgbClr val="148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041648"/>
            <a:ext cx="658368" cy="658368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0416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1320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4096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Real Data. Not Synthetic.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44074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C96E"/>
                </a:solidFill>
              </a:rPr>
              <a:t>بيانات حقيقية، ليست مصطنعة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36592"/>
            <a:ext cx="5532120" cy="36576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" y="4864608"/>
            <a:ext cx="545896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</a:rPr>
              <a:t>Certified World Bank Open Data API — 5 official indicators, 15 years, 6 nations. Offline-capable for field use.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041648"/>
            <a:ext cx="5715000" cy="2450592"/>
          </a:xfrm>
          <a:prstGeom prst="rect">
            <a:avLst/>
          </a:prstGeom>
          <a:solidFill>
            <a:srgbClr val="1B4F72"/>
          </a:solidFill>
          <a:ln w="31750">
            <a:solidFill>
              <a:srgbClr val="C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4041648"/>
            <a:ext cx="658368" cy="658368"/>
          </a:xfrm>
          <a:prstGeom prst="rect">
            <a:avLst/>
          </a:prstGeom>
          <a:solidFill>
            <a:srgbClr val="C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0416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1320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7" y="4096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Demo-Safe. Production-Ready.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7" y="44074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C96E"/>
                </a:solidFill>
              </a:rPr>
              <a:t>آمن للعرض. جاهز للإنتاج.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799" y="4736592"/>
            <a:ext cx="5532120" cy="36576"/>
          </a:xfrm>
          <a:prstGeom prst="rect">
            <a:avLst/>
          </a:prstGeom>
          <a:solidFill>
            <a:srgbClr val="C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5" y="4864608"/>
            <a:ext cx="545896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F4F8"/>
                </a:solidFill>
              </a:rPr>
              <a:t>One-click live URL — no setup, no install. Judges see a deployed production platform, not a prototype.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6510528"/>
            <a:ext cx="11987784" cy="347472"/>
          </a:xfrm>
          <a:prstGeom prst="rect">
            <a:avLst/>
          </a:prstGeom>
          <a:solidFill>
            <a:srgbClr val="C39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320"/>
                </a:solidFill>
              </a:rPr>
              <a:t>🔗  Live:  competition-efvjqtcbnxcvt3te6fqkaw.streamlit.app   ·   Data: World Bank Open Data API v2   ·   Participant: Yahya Alwashahi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