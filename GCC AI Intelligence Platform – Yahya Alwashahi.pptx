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6858000"/>
          </a:xfrm>
          <a:prstGeom prst="rect">
            <a:avLst/>
          </a:prstGeom>
          <a:solidFill>
            <a:srgbClr val="0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457200"/>
            <a:ext cx="822960" cy="822960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GCC AI Intelligence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5943600" cy="50292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39B4E"/>
                </a:solidFill>
              </a:rPr>
              <a:t>AI-Powered Youth Employment Forecasting
&amp; Policy Decision Support for the Gulf Cooperation Council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592" y="6035040"/>
            <a:ext cx="12024360" cy="822960"/>
          </a:xfrm>
          <a:prstGeom prst="rect">
            <a:avLst/>
          </a:prstGeom>
          <a:solidFill>
            <a:srgbClr val="09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39B4E"/>
                </a:solidFill>
              </a:rPr>
              <a:t>World Bank Open Data  ·  6 GCC Nations  ·  5 Indicators  ·  2010–2024  ·  6 AI Models  ·  Bilingual EN + AR  ·  Offline-Capable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FFFFFF"/>
                </a:solidFill>
              </a:rPr>
              <a:t>Where are we?  ·  Where are we heading?  ·  What should we 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63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39B4E"/>
                </a:solidFill>
              </a:rPr>
              <a:t>COMPETITION SUBMISSION  ·  GCC AI INNOVATION CHALLENGE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32720" y="1280160"/>
            <a:ext cx="1536192" cy="868680"/>
          </a:xfrm>
          <a:prstGeom prst="rect">
            <a:avLst/>
          </a:prstGeom>
          <a:solidFill>
            <a:srgbClr val="1B4F72"/>
          </a:solidFill>
          <a:ln w="12700">
            <a:solidFill>
              <a:srgbClr val="C3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0" y="1325880"/>
            <a:ext cx="1536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39B4E"/>
                </a:solidFill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755648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NATIONS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32720" y="2359152"/>
            <a:ext cx="1536192" cy="868680"/>
          </a:xfrm>
          <a:prstGeom prst="rect">
            <a:avLst/>
          </a:prstGeom>
          <a:solidFill>
            <a:srgbClr val="1B4F72"/>
          </a:solidFill>
          <a:ln w="12700">
            <a:solidFill>
              <a:srgbClr val="C3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0" y="2404872"/>
            <a:ext cx="1536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39B4E"/>
                </a:solidFill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834640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AI MODELS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32720" y="3438144"/>
            <a:ext cx="1536192" cy="868680"/>
          </a:xfrm>
          <a:prstGeom prst="rect">
            <a:avLst/>
          </a:prstGeom>
          <a:solidFill>
            <a:srgbClr val="1B4F72"/>
          </a:solidFill>
          <a:ln w="12700">
            <a:solidFill>
              <a:srgbClr val="C3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0" y="3483864"/>
            <a:ext cx="1536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39B4E"/>
                </a:solidFill>
              </a:rPr>
              <a:t>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913632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YEARS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4517136"/>
            <a:ext cx="1536192" cy="868680"/>
          </a:xfrm>
          <a:prstGeom prst="rect">
            <a:avLst/>
          </a:prstGeom>
          <a:solidFill>
            <a:srgbClr val="1B4F72"/>
          </a:solidFill>
          <a:ln w="12700">
            <a:solidFill>
              <a:srgbClr val="C3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0" y="4562856"/>
            <a:ext cx="1536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39B4E"/>
                </a:solidFill>
              </a:rPr>
              <a:t>EN+AR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4992624"/>
            <a:ext cx="15361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BILINGUAL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9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 Structural Challenge Requiring Strategic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39B4E"/>
                </a:solidFill>
              </a:rPr>
              <a:t>GCC Youth Employment — The Policy Intelligence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5029200" cy="5212080"/>
          </a:xfrm>
          <a:prstGeom prst="rect">
            <a:avLst/>
          </a:prstGeom>
          <a:solidFill>
            <a:srgbClr val="091320"/>
          </a:solidFill>
          <a:ln w="19050">
            <a:solidFill>
              <a:srgbClr val="C3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39B4E"/>
                </a:solidFill>
              </a:rPr>
              <a:t>THE NUMBERS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74519"/>
            <a:ext cx="4663440" cy="658368"/>
          </a:xfrm>
          <a:prstGeom prst="rect">
            <a:avLst/>
          </a:prstGeom>
          <a:solidFill>
            <a:srgbClr val="1B4F72"/>
          </a:solidFill>
          <a:ln w="10160">
            <a:solidFill>
              <a:srgbClr val="A07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92023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39B4E"/>
                </a:solidFill>
              </a:rPr>
              <a:t>3.5% – 30%+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21991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Youth unemployment range across GCC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97479"/>
            <a:ext cx="4663440" cy="658368"/>
          </a:xfrm>
          <a:prstGeom prst="rect">
            <a:avLst/>
          </a:prstGeom>
          <a:solidFill>
            <a:srgbClr val="1B4F72"/>
          </a:solidFill>
          <a:ln w="10160">
            <a:solidFill>
              <a:srgbClr val="A07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74319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39B4E"/>
                </a:solidFill>
              </a:rPr>
              <a:t>60 million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44951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People in GCC workforce ecosystem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20439"/>
            <a:ext cx="4663440" cy="658368"/>
          </a:xfrm>
          <a:prstGeom prst="rect">
            <a:avLst/>
          </a:prstGeom>
          <a:solidFill>
            <a:srgbClr val="1B4F72"/>
          </a:solidFill>
          <a:ln w="10160">
            <a:solidFill>
              <a:srgbClr val="A07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56615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39B4E"/>
                </a:solidFill>
              </a:rPr>
              <a:t>Largest ever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67911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Youth cohort in GCC history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343400"/>
            <a:ext cx="4663440" cy="658368"/>
          </a:xfrm>
          <a:prstGeom prst="rect">
            <a:avLst/>
          </a:prstGeom>
          <a:solidFill>
            <a:srgbClr val="1B4F72"/>
          </a:solidFill>
          <a:ln w="10160">
            <a:solidFill>
              <a:srgbClr val="A07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3891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39B4E"/>
                </a:solidFill>
              </a:rPr>
              <a:t>Divergent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69087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Trajectories across 6 nations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166360"/>
            <a:ext cx="4663440" cy="658368"/>
          </a:xfrm>
          <a:prstGeom prst="rect">
            <a:avLst/>
          </a:prstGeom>
          <a:solidFill>
            <a:srgbClr val="1B4F72"/>
          </a:solidFill>
          <a:ln w="10160">
            <a:solidFill>
              <a:srgbClr val="A07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21208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39B4E"/>
                </a:solidFill>
              </a:rPr>
              <a:t>Decades-long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51383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Skills mismatch unresolved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23560" y="1234440"/>
            <a:ext cx="6263640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6440" y="137160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4F72"/>
                </a:solidFill>
              </a:rPr>
              <a:t>THE INTELLIGENCE GAP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15000" y="1874519"/>
            <a:ext cx="384048" cy="384048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0" y="1874519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9632" y="1874519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91320"/>
                </a:solidFill>
              </a:rPr>
              <a:t>Fragmented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9632" y="2148839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</a:rPr>
              <a:t>Statistics scattered across national agencies, World Bank, ILO &amp; OECD — no unified view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15000" y="2743200"/>
            <a:ext cx="384048" cy="384048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15000" y="27432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274320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91320"/>
                </a:solidFill>
              </a:rPr>
              <a:t>No Regional Benchmark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99632" y="301752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</a:rPr>
              <a:t>Governments lack a real-time GCC peer comparison platform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15000" y="3611879"/>
            <a:ext cx="384048" cy="384048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15000" y="3611879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2" y="3611879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91320"/>
                </a:solidFill>
              </a:rPr>
              <a:t>No Forward Intelligence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3886199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</a:rPr>
              <a:t>All reporting is retrospective — strategic planning lacks AI-powered predictive signals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15000" y="4480559"/>
            <a:ext cx="384048" cy="384048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15000" y="4480559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99632" y="4480559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91320"/>
                </a:solidFill>
              </a:rPr>
              <a:t>No Scenario Modelling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9632" y="4754879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</a:rPr>
              <a:t>Policymakers cannot model employment impact before committing to interventions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15000" y="5349240"/>
            <a:ext cx="384048" cy="384048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15000" y="534924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99632" y="534924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91320"/>
                </a:solidFill>
              </a:rPr>
              <a:t>No Bilingual Executive Layer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9632" y="562356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</a:rPr>
              <a:t>Insights generated in English are inaccessible to Arabic-speaking ministry audiences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777777"/>
                </a:solidFill>
              </a:rPr>
              <a:t>GCC AI Intelligence Platform  ·  Competition Submission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9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Youth Employment Is a Strategic Priority for the GCC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39B4E"/>
                </a:solidFill>
              </a:rPr>
              <a:t>Policy · Economic · Social — Three Dimensions of Impact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3749039" cy="96012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716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POLICY IMPACT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212848"/>
            <a:ext cx="3749039" cy="3977639"/>
          </a:xfrm>
          <a:prstGeom prst="rect">
            <a:avLst/>
          </a:prstGeom>
          <a:solidFill>
            <a:srgbClr val="FFFFFF"/>
          </a:solidFill>
          <a:ln w="3175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359152"/>
            <a:ext cx="3383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091320"/>
                </a:solidFill>
              </a:rPr>
              <a:t>▸  Evidence-based labour market decisions</a:t>
            </a:r>
          </a:p>
          <a:p>
            <a:r>
              <a:rPr sz="1050">
                <a:solidFill>
                  <a:srgbClr val="091320"/>
                </a:solidFill>
              </a:rPr>
              <a:t>▸  Aligned with Vision 2030, UAE Centennial 2071, QNV 2030</a:t>
            </a:r>
          </a:p>
          <a:p>
            <a:r>
              <a:rPr sz="1050">
                <a:solidFill>
                  <a:srgbClr val="091320"/>
                </a:solidFill>
              </a:rPr>
              <a:t>▸  Replaces fragmented data with unified intelligence</a:t>
            </a:r>
          </a:p>
          <a:p>
            <a:r>
              <a:rPr sz="1050">
                <a:solidFill>
                  <a:srgbClr val="091320"/>
                </a:solidFill>
              </a:rPr>
              <a:t>▸  Enables early warning before crises emerge</a:t>
            </a:r>
          </a:p>
          <a:p>
            <a:r>
              <a:rPr sz="1050">
                <a:solidFill>
                  <a:srgbClr val="091320"/>
                </a:solidFill>
              </a:rPr>
              <a:t>▸  Supports national workforce strategy planning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234440"/>
            <a:ext cx="3749039" cy="9601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126187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928" y="13716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ECONOMIC IMPACT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2212848"/>
            <a:ext cx="3749039" cy="3977639"/>
          </a:xfrm>
          <a:prstGeom prst="rect">
            <a:avLst/>
          </a:prstGeom>
          <a:solidFill>
            <a:srgbClr val="FFFFFF"/>
          </a:solidFill>
          <a:ln w="3175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2359152"/>
            <a:ext cx="3383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091320"/>
                </a:solidFill>
              </a:rPr>
              <a:t>▸  Youth employment drives GDP multiplier effects</a:t>
            </a:r>
          </a:p>
          <a:p>
            <a:r>
              <a:rPr sz="1050">
                <a:solidFill>
                  <a:srgbClr val="091320"/>
                </a:solidFill>
              </a:rPr>
              <a:t>▸  Reduces dependency on public-sector hiring</a:t>
            </a:r>
          </a:p>
          <a:p>
            <a:r>
              <a:rPr sz="1050">
                <a:solidFill>
                  <a:srgbClr val="091320"/>
                </a:solidFill>
              </a:rPr>
              <a:t>▸  Strengthens private-sector depth and resilience</a:t>
            </a:r>
          </a:p>
          <a:p>
            <a:r>
              <a:rPr sz="1050">
                <a:solidFill>
                  <a:srgbClr val="091320"/>
                </a:solidFill>
              </a:rPr>
              <a:t>▸  Delays economic diversification when unresolved</a:t>
            </a:r>
          </a:p>
          <a:p>
            <a:r>
              <a:rPr sz="1050">
                <a:solidFill>
                  <a:srgbClr val="091320"/>
                </a:solidFill>
              </a:rPr>
              <a:t>▸  Productive youth = sustainable fiscal position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0456" y="1234440"/>
            <a:ext cx="3749039" cy="960120"/>
          </a:xfrm>
          <a:prstGeom prst="rect">
            <a:avLst/>
          </a:prstGeom>
          <a:solidFill>
            <a:srgbClr val="C07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126187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9136" y="13716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SOCIAL IMPACT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0456" y="2212848"/>
            <a:ext cx="3749039" cy="3977639"/>
          </a:xfrm>
          <a:prstGeom prst="rect">
            <a:avLst/>
          </a:prstGeom>
          <a:solidFill>
            <a:srgbClr val="FFFFFF"/>
          </a:solidFill>
          <a:ln w="31750">
            <a:solidFill>
              <a:srgbClr val="C07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03336" y="2359152"/>
            <a:ext cx="3383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091320"/>
                </a:solidFill>
              </a:rPr>
              <a:t>▸  Youth unemployment drives social instability</a:t>
            </a:r>
          </a:p>
          <a:p>
            <a:r>
              <a:rPr sz="1050">
                <a:solidFill>
                  <a:srgbClr val="091320"/>
                </a:solidFill>
              </a:rPr>
              <a:t>▸  Brain drain accelerates when opportunities are absent</a:t>
            </a:r>
          </a:p>
          <a:p>
            <a:r>
              <a:rPr sz="1050">
                <a:solidFill>
                  <a:srgbClr val="091320"/>
                </a:solidFill>
              </a:rPr>
              <a:t>▸  Public-sector cost escalation under unresolved pressure</a:t>
            </a:r>
          </a:p>
          <a:p>
            <a:r>
              <a:rPr sz="1050">
                <a:solidFill>
                  <a:srgbClr val="091320"/>
                </a:solidFill>
              </a:rPr>
              <a:t>▸  AI-assisted forecasting enables structured early action</a:t>
            </a:r>
          </a:p>
          <a:p>
            <a:r>
              <a:rPr sz="1050">
                <a:solidFill>
                  <a:srgbClr val="091320"/>
                </a:solidFill>
              </a:rPr>
              <a:t>▸  60 million people — the workforce future of the Gulf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777777"/>
                </a:solidFill>
              </a:rPr>
              <a:t>GCC AI Intelligence Platform  ·  Competition Submission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9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One Platform. Six Nations. Full Intelligence Cycle.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39B4E"/>
                </a:solidFill>
              </a:rPr>
              <a:t>End-to-End AI Decision Support — From Raw Data to Ministerial Briefing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98448"/>
            <a:ext cx="3749039" cy="64008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408176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🌍  GCC REGIONAL INTELLIGENCE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938528"/>
            <a:ext cx="3749039" cy="1554480"/>
          </a:xfrm>
          <a:prstGeom prst="rect">
            <a:avLst/>
          </a:prstGeom>
          <a:solidFill>
            <a:srgbClr val="FFFFFF"/>
          </a:solidFill>
          <a:ln w="2286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48256"/>
            <a:ext cx="34747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91320"/>
                </a:solidFill>
              </a:rPr>
              <a:t>Six-country live dashboard · AI risk badges · YoY heatmap · GCC average benchmarking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0248" y="1298448"/>
            <a:ext cx="3749039" cy="640080"/>
          </a:xfrm>
          <a:prstGeom prst="rect">
            <a:avLst/>
          </a:prstGeom>
          <a:solidFill>
            <a:srgbClr val="287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9976" y="1408176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🔍  COUNTRY DEEP-DIVE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1938528"/>
            <a:ext cx="3749039" cy="1554480"/>
          </a:xfrm>
          <a:prstGeom prst="rect">
            <a:avLst/>
          </a:prstGeom>
          <a:solidFill>
            <a:srgbClr val="FFFFFF"/>
          </a:solidFill>
          <a:ln w="22860">
            <a:solidFill>
              <a:srgbClr val="287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2048256"/>
            <a:ext cx="34747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91320"/>
                </a:solidFill>
              </a:rPr>
              <a:t>Per-nation KPIs · 10-year trend analysis · AI strategic alerts · Historical comparison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0456" y="1298448"/>
            <a:ext cx="3749039" cy="640080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0184" y="1408176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📈  AI FORECASTING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0456" y="1938528"/>
            <a:ext cx="3749039" cy="1554480"/>
          </a:xfrm>
          <a:prstGeom prst="rect">
            <a:avLst/>
          </a:prstGeom>
          <a:solidFill>
            <a:srgbClr val="FFFFFF"/>
          </a:solidFill>
          <a:ln w="22860">
            <a:solidFill>
              <a:srgbClr val="C3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7616" y="2048256"/>
            <a:ext cx="34747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91320"/>
                </a:solidFill>
              </a:rPr>
              <a:t>6-model ensemble · Auto-selection via sMAPE CV · Prediction intervals · Trust score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785616"/>
            <a:ext cx="3749039" cy="640080"/>
          </a:xfrm>
          <a:prstGeom prst="rect">
            <a:avLst/>
          </a:prstGeom>
          <a:solidFill>
            <a:srgbClr val="09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" y="389534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🤖  AI INTELLIGENCE REPORTS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425696"/>
            <a:ext cx="3749039" cy="1554480"/>
          </a:xfrm>
          <a:prstGeom prst="rect">
            <a:avLst/>
          </a:prstGeom>
          <a:solidFill>
            <a:srgbClr val="FFFFFF"/>
          </a:solidFill>
          <a:ln w="22860">
            <a:solidFill>
              <a:srgbClr val="0913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535424"/>
            <a:ext cx="34747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91320"/>
                </a:solidFill>
              </a:rPr>
              <a:t>Bilingual EN/AR executive briefs · 8 risk profiles · Strategic alerts · Policy recommendations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0248" y="3785616"/>
            <a:ext cx="3749039" cy="64008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79976" y="389534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⚙️  SCENARIO SIMULATION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70248" y="4425696"/>
            <a:ext cx="3749039" cy="1554480"/>
          </a:xfrm>
          <a:prstGeom prst="rect">
            <a:avLst/>
          </a:prstGeom>
          <a:solidFill>
            <a:srgbClr val="FFFFFF"/>
          </a:solidFill>
          <a:ln w="2286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4535424"/>
            <a:ext cx="34747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91320"/>
                </a:solidFill>
              </a:rPr>
              <a:t>8 policy presets · Elasticity-based impact · GCC-wide rank simulation · Bilingual intel report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0456" y="3785616"/>
            <a:ext cx="3749039" cy="640080"/>
          </a:xfrm>
          <a:prstGeom prst="rect">
            <a:avLst/>
          </a:prstGeom>
          <a:solidFill>
            <a:srgbClr val="148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4" y="389534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🔬  EXPLAINABILITY &amp; TRUST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0456" y="4425696"/>
            <a:ext cx="3749039" cy="1554480"/>
          </a:xfrm>
          <a:prstGeom prst="rect">
            <a:avLst/>
          </a:prstGeom>
          <a:solidFill>
            <a:srgbClr val="FFFFFF"/>
          </a:solidFill>
          <a:ln w="22860">
            <a:solidFill>
              <a:srgbClr val="148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57616" y="4535424"/>
            <a:ext cx="34747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91320"/>
                </a:solidFill>
              </a:rPr>
              <a:t>Trust score 0–100 · Driver intelligence · Confidence tiers A–E · Responsible AI centre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777777"/>
                </a:solidFill>
              </a:rPr>
              <a:t>GCC AI Intelligence Platform  ·  Competition Submission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9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Production-Grade AI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39B4E"/>
                </a:solidFill>
              </a:rPr>
              <a:t>Five-Layer Data-to-Intelligence Pipeline · Offline-Capable · Bilingual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70916" y="1325880"/>
            <a:ext cx="2029968" cy="86868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" y="1399032"/>
            <a:ext cx="184708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🌐 WORLD BANK
OPEN DATA API v2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" y="2194560"/>
            <a:ext cx="2029968" cy="3063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0644" y="2313432"/>
            <a:ext cx="181051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091320"/>
                </a:solidFill>
              </a:rPr>
              <a:t>▸ 5 official indicators</a:t>
            </a:r>
          </a:p>
          <a:p>
            <a:r>
              <a:rPr sz="900">
                <a:solidFill>
                  <a:srgbClr val="091320"/>
                </a:solidFill>
              </a:rPr>
              <a:t>▸ 6 GCC nations</a:t>
            </a:r>
          </a:p>
          <a:p>
            <a:r>
              <a:rPr sz="900">
                <a:solidFill>
                  <a:srgbClr val="091320"/>
                </a:solidFill>
              </a:rPr>
              <a:t>▸ 2010–2024</a:t>
            </a:r>
          </a:p>
          <a:p>
            <a:r>
              <a:rPr sz="900">
                <a:solidFill>
                  <a:srgbClr val="091320"/>
                </a:solidFill>
              </a:rPr>
              <a:t>▸ REST API + CSV cache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9172" y="31546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B4F72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75204" y="1325880"/>
            <a:ext cx="2029968" cy="86868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6644" y="1399032"/>
            <a:ext cx="184708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🗄 DATA LAYER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5204" y="2194560"/>
            <a:ext cx="2029968" cy="3063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4932" y="2313432"/>
            <a:ext cx="181051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091320"/>
                </a:solidFill>
              </a:rPr>
              <a:t>▸ src/wb_data.py</a:t>
            </a:r>
          </a:p>
          <a:p>
            <a:r>
              <a:rPr sz="900">
                <a:solidFill>
                  <a:srgbClr val="091320"/>
                </a:solidFill>
              </a:rPr>
              <a:t>▸ src/gcc_data.py</a:t>
            </a:r>
          </a:p>
          <a:p>
            <a:r>
              <a:rPr sz="900">
                <a:solidFill>
                  <a:srgbClr val="091320"/>
                </a:solidFill>
              </a:rPr>
              <a:t>▸ Interpolation</a:t>
            </a:r>
          </a:p>
          <a:p>
            <a:r>
              <a:rPr sz="900">
                <a:solidFill>
                  <a:srgbClr val="091320"/>
                </a:solidFill>
              </a:rPr>
              <a:t>▸ Offline cache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3460" y="31546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B4F72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9492" y="1325880"/>
            <a:ext cx="2029968" cy="868680"/>
          </a:xfrm>
          <a:prstGeom prst="rect">
            <a:avLst/>
          </a:prstGeom>
          <a:solidFill>
            <a:srgbClr val="287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70932" y="1399032"/>
            <a:ext cx="184708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🤖 6-MODEL AI ENGINE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9492" y="2194560"/>
            <a:ext cx="2029968" cy="3063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87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89220" y="2313432"/>
            <a:ext cx="181051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091320"/>
                </a:solidFill>
              </a:rPr>
              <a:t>▸ Naïve · Seasonal Naïve</a:t>
            </a:r>
          </a:p>
          <a:p>
            <a:r>
              <a:rPr sz="900">
                <a:solidFill>
                  <a:srgbClr val="091320"/>
                </a:solidFill>
              </a:rPr>
              <a:t>▸ Moving Average · Drift</a:t>
            </a:r>
          </a:p>
          <a:p>
            <a:r>
              <a:rPr sz="900">
                <a:solidFill>
                  <a:srgbClr val="091320"/>
                </a:solidFill>
              </a:rPr>
              <a:t>▸ SARIMAX (AIC auto)</a:t>
            </a:r>
          </a:p>
          <a:p>
            <a:r>
              <a:rPr sz="900">
                <a:solidFill>
                  <a:srgbClr val="091320"/>
                </a:solidFill>
              </a:rPr>
              <a:t>▸ LightGBM (quantile)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7748" y="31546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B4F72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83780" y="1325880"/>
            <a:ext cx="2029968" cy="868680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75220" y="1399032"/>
            <a:ext cx="184708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✨ AI INTELLIGENCE
&amp; TRUST LAYER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83780" y="2194560"/>
            <a:ext cx="2029968" cy="3063240"/>
          </a:xfrm>
          <a:prstGeom prst="rect">
            <a:avLst/>
          </a:prstGeom>
          <a:solidFill>
            <a:srgbClr val="FFFFFF"/>
          </a:solidFill>
          <a:ln w="19050">
            <a:solidFill>
              <a:srgbClr val="C3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3508" y="2313432"/>
            <a:ext cx="181051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091320"/>
                </a:solidFill>
              </a:rPr>
              <a:t>▸ 8 risk profiles</a:t>
            </a:r>
          </a:p>
          <a:p>
            <a:r>
              <a:rPr sz="900">
                <a:solidFill>
                  <a:srgbClr val="091320"/>
                </a:solidFill>
              </a:rPr>
              <a:t>▸ 4 alert types</a:t>
            </a:r>
          </a:p>
          <a:p>
            <a:r>
              <a:rPr sz="900">
                <a:solidFill>
                  <a:srgbClr val="091320"/>
                </a:solidFill>
              </a:rPr>
              <a:t>▸ Trust score 0–100</a:t>
            </a:r>
          </a:p>
          <a:p>
            <a:r>
              <a:rPr sz="900">
                <a:solidFill>
                  <a:srgbClr val="091320"/>
                </a:solidFill>
              </a:rPr>
              <a:t>▸ Driver intelligence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32036" y="31546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B4F72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88068" y="1325880"/>
            <a:ext cx="2029968" cy="868680"/>
          </a:xfrm>
          <a:prstGeom prst="rect">
            <a:avLst/>
          </a:prstGeom>
          <a:solidFill>
            <a:srgbClr val="09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79508" y="1399032"/>
            <a:ext cx="184708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📊 STREAMLIT
DASHBOARD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88068" y="2194560"/>
            <a:ext cx="2029968" cy="3063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913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97796" y="2313432"/>
            <a:ext cx="181051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091320"/>
                </a:solidFill>
              </a:rPr>
              <a:t>▸ 6 pages · Plotly</a:t>
            </a:r>
          </a:p>
          <a:p>
            <a:r>
              <a:rPr sz="900">
                <a:solidFill>
                  <a:srgbClr val="091320"/>
                </a:solidFill>
              </a:rPr>
              <a:t>▸ Bilingual UI</a:t>
            </a:r>
          </a:p>
          <a:p>
            <a:r>
              <a:rPr sz="900">
                <a:solidFill>
                  <a:srgbClr val="091320"/>
                </a:solidFill>
              </a:rPr>
              <a:t>▸ Export system</a:t>
            </a:r>
          </a:p>
          <a:p>
            <a:r>
              <a:rPr sz="900">
                <a:solidFill>
                  <a:srgbClr val="091320"/>
                </a:solidFill>
              </a:rPr>
              <a:t>▸ Demo flow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73452" y="33375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1">
                <a:solidFill>
                  <a:srgbClr val="777777"/>
                </a:solidFill>
              </a:rPr>
              <a:t>REST API
CSV Cache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7740" y="33375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1">
                <a:solidFill>
                  <a:srgbClr val="777777"/>
                </a:solidFill>
              </a:rPr>
              <a:t>pd.Series
annual/monthly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2028" y="33375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1">
                <a:solidFill>
                  <a:srgbClr val="777777"/>
                </a:solidFill>
              </a:rPr>
              <a:t>BacktestResult
ScenarioResult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86316" y="33375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1">
                <a:solidFill>
                  <a:srgbClr val="777777"/>
                </a:solidFill>
              </a:rPr>
              <a:t>IntelligenceReport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5504688"/>
            <a:ext cx="12188952" cy="1353312"/>
          </a:xfrm>
          <a:prstGeom prst="rect">
            <a:avLst/>
          </a:prstGeom>
          <a:solidFill>
            <a:srgbClr val="09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5614416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✅  Offline-capable (pre-seeded World Bank cache)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24912" y="5614416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✅  Automatic model selection via sMAPE cross-validation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84064" y="5614416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✅  Bilingual output generated in parallel — not translated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43216" y="5614416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✅  Explainability built in from day 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02368" y="5614416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✅  Production-ready — one-click launch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9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Grounded in Real Data · Powered by Six AI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39B4E"/>
                </a:solidFill>
              </a:rPr>
              <a:t>World Bank Open Data API v2 · Expanding-Window Cross-Validation · Automatic Model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5212080" cy="5212080"/>
          </a:xfrm>
          <a:prstGeom prst="rect">
            <a:avLst/>
          </a:prstGeom>
          <a:solidFill>
            <a:srgbClr val="FFFFFF"/>
          </a:solidFill>
          <a:ln w="1524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212080" cy="4572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REAL WORLD BANK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810512"/>
            <a:ext cx="73152" cy="36576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81051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7A4A"/>
                </a:solidFill>
              </a:rPr>
              <a:t>SL.UEM.1524.ZS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011680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91320"/>
                </a:solidFill>
              </a:rPr>
              <a:t>Youth Unemployment Rate 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377440"/>
            <a:ext cx="73152" cy="365760"/>
          </a:xfrm>
          <a:prstGeom prst="rect">
            <a:avLst/>
          </a:prstGeom>
          <a:solidFill>
            <a:srgbClr val="287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37744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874A6"/>
                </a:solidFill>
              </a:rPr>
              <a:t>NY.GDP.MKTP.KD.ZG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578608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91320"/>
                </a:solidFill>
              </a:rPr>
              <a:t>GDP Growth Rate (%)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944368"/>
            <a:ext cx="73152" cy="365760"/>
          </a:xfrm>
          <a:prstGeom prst="rect">
            <a:avLst/>
          </a:prstGeom>
          <a:solidFill>
            <a:srgbClr val="C07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94436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07820"/>
                </a:solidFill>
              </a:rPr>
              <a:t>FP.CPI.TOTL.ZG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145536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91320"/>
                </a:solidFill>
              </a:rPr>
              <a:t>Inflation — CPI (%)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511296"/>
            <a:ext cx="73152" cy="365760"/>
          </a:xfrm>
          <a:prstGeom prst="rect">
            <a:avLst/>
          </a:prstGeom>
          <a:solidFill>
            <a:srgbClr val="148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511296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8F77"/>
                </a:solidFill>
              </a:rPr>
              <a:t>SP.POP.GROW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12464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91320"/>
                </a:solidFill>
              </a:rPr>
              <a:t>Population Growth Rate (%)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078224"/>
            <a:ext cx="73152" cy="36576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07822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B4F72"/>
                </a:solidFill>
              </a:rPr>
              <a:t>IT.NET.USER.ZS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79392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91320"/>
                </a:solidFill>
              </a:rPr>
              <a:t>Internet Users (% of Population)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736592"/>
            <a:ext cx="5029200" cy="32004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77316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6 GCC NATIONS  ·  SAU · UAE · QAT · KWT · BHR · OMN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120640"/>
            <a:ext cx="5029200" cy="32004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15721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2010–2024  ·  15 annual observations  ·  Offline cache 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5532120"/>
            <a:ext cx="5029200" cy="749808"/>
          </a:xfrm>
          <a:prstGeom prst="rect">
            <a:avLst/>
          </a:prstGeom>
          <a:solidFill>
            <a:srgbClr val="F4F6F9"/>
          </a:solidFill>
          <a:ln w="635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65099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777777"/>
                </a:solidFill>
              </a:rPr>
              <a:t>[ SCREENSHOT: GCC Overview Heatmap — Year-on-Year Change 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06440" y="1234440"/>
            <a:ext cx="6080760" cy="5212080"/>
          </a:xfrm>
          <a:prstGeom prst="rect">
            <a:avLst/>
          </a:prstGeom>
          <a:solidFill>
            <a:srgbClr val="FFFFFF"/>
          </a:solidFill>
          <a:ln w="1524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06440" y="1234440"/>
            <a:ext cx="6080760" cy="4572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0" y="12801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SIX-MODEL AI ENSEMBLE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97880" y="1828800"/>
            <a:ext cx="868680" cy="502920"/>
          </a:xfrm>
          <a:prstGeom prst="rect">
            <a:avLst/>
          </a:prstGeom>
          <a:solidFill>
            <a:srgbClr val="77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97880" y="1874520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</a:rPr>
              <a:t>BASELINE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185623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91320"/>
                </a:solidFill>
              </a:rPr>
              <a:t>Naïve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210312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</a:rPr>
              <a:t>Last-value persistence benchmark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97880" y="2532888"/>
            <a:ext cx="868680" cy="502920"/>
          </a:xfrm>
          <a:prstGeom prst="rect">
            <a:avLst/>
          </a:prstGeom>
          <a:solidFill>
            <a:srgbClr val="77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97880" y="2578608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</a:rPr>
              <a:t>BASELINE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256032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91320"/>
                </a:solidFill>
              </a:rPr>
              <a:t>Seasonal Naïve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280720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</a:rPr>
              <a:t>Seasonal pattern replication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97880" y="3236976"/>
            <a:ext cx="868680" cy="502920"/>
          </a:xfrm>
          <a:prstGeom prst="rect">
            <a:avLst/>
          </a:prstGeom>
          <a:solidFill>
            <a:srgbClr val="77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97880" y="3282696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</a:rPr>
              <a:t>BASELINE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0" y="32644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91320"/>
                </a:solidFill>
              </a:rPr>
              <a:t>Moving Average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351129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</a:rPr>
              <a:t>3-period local smoothing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97880" y="3941064"/>
            <a:ext cx="868680" cy="502920"/>
          </a:xfrm>
          <a:prstGeom prst="rect">
            <a:avLst/>
          </a:prstGeom>
          <a:solidFill>
            <a:srgbClr val="77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97880" y="3986784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</a:rPr>
              <a:t>BASELINE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396849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91320"/>
                </a:solidFill>
              </a:rPr>
              <a:t>Drift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421538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</a:rPr>
              <a:t>Linear trend extrapolation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97880" y="4645152"/>
            <a:ext cx="868680" cy="502920"/>
          </a:xfrm>
          <a:prstGeom prst="rect">
            <a:avLst/>
          </a:prstGeom>
          <a:solidFill>
            <a:srgbClr val="287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97880" y="4690872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</a:rPr>
              <a:t>STATISTICAL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0" y="467258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91320"/>
                </a:solidFill>
              </a:rPr>
              <a:t>SARIMAX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0" y="491947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</a:rPr>
              <a:t>Seasonal autoregression · AIC order selection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97880" y="5349240"/>
            <a:ext cx="868680" cy="502920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97880" y="5394960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</a:rPr>
              <a:t>MACHINE LEARNING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0" y="537667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91320"/>
                </a:solidFill>
              </a:rPr>
              <a:t>LightGBM ★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562356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</a:rPr>
              <a:t>Gradient boosting · lag/rolling/calendar features · quantile intervals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97880" y="5577840"/>
            <a:ext cx="5806440" cy="59436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35040" y="561441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★  Automatic selection: lowest sMAPE on expanding-window holdout folds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777777"/>
                </a:solidFill>
              </a:rPr>
              <a:t>GCC AI Intelligence Platform  ·  Competition Submission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9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Ministry-Grade AI Intelligence — English &amp; Arabic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39B4E"/>
                </a:solidFill>
              </a:rPr>
              <a:t>Bilingual Executive Reports · Risk Classification · Strategic Alerts · Policy Recommendations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11548872" cy="658368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91320"/>
                </a:solidFill>
              </a:rPr>
              <a:t>AI INTELLIGENCE ENGINE  ·  src/intelligence.py  ·  Generates complete executive intelligence in &lt; 60 seconds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029968"/>
            <a:ext cx="5650992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2029968"/>
            <a:ext cx="91440" cy="210312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210312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4F72"/>
                </a:solidFill>
              </a:rPr>
              <a:t>🎯  RISK CLASSIFICATION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" y="237744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77777"/>
                </a:solidFill>
              </a:rPr>
              <a:t>8 dynamic labels assigned per country/indicator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" y="2633472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091320"/>
                </a:solidFill>
              </a:rPr>
              <a:t>▸  Stable  ·  Growth Opportunity</a:t>
            </a:r>
          </a:p>
          <a:p>
            <a:r>
              <a:rPr sz="850">
                <a:solidFill>
                  <a:srgbClr val="091320"/>
                </a:solidFill>
              </a:rPr>
              <a:t>▸  Moderate Risk  ·  High Risk</a:t>
            </a:r>
          </a:p>
          <a:p>
            <a:r>
              <a:rPr sz="850">
                <a:solidFill>
                  <a:srgbClr val="091320"/>
                </a:solidFill>
              </a:rPr>
              <a:t>▸  Recovery Phase  ·  Structural Pressure</a:t>
            </a:r>
          </a:p>
          <a:p>
            <a:r>
              <a:rPr sz="850">
                <a:solidFill>
                  <a:srgbClr val="091320"/>
                </a:solidFill>
              </a:rPr>
              <a:t>▸  Inflationary Pressure  ·  Labour Volatility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" y="360273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77777"/>
                </a:solidFill>
              </a:rPr>
              <a:t>★  Based on: trend slope · volatility · target range · recovery pattern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029968"/>
            <a:ext cx="5650992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A93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029968"/>
            <a:ext cx="91440" cy="2103120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210312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93226"/>
                </a:solidFill>
              </a:rPr>
              <a:t>⚡  STRATEGIC ALERTS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237744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77777"/>
                </a:solidFill>
              </a:rPr>
              <a:t>Up to 4 contextual alerts per forecast — automatic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633472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091320"/>
                </a:solidFill>
              </a:rPr>
              <a:t>▸  Critical Level Alert (threshold breach)</a:t>
            </a:r>
          </a:p>
          <a:p>
            <a:r>
              <a:rPr sz="850">
                <a:solidFill>
                  <a:srgbClr val="091320"/>
                </a:solidFill>
              </a:rPr>
              <a:t>▸  YoY Signal Alert (&gt;1.5pp shift detected)</a:t>
            </a:r>
          </a:p>
          <a:p>
            <a:r>
              <a:rPr sz="850">
                <a:solidFill>
                  <a:srgbClr val="091320"/>
                </a:solidFill>
              </a:rPr>
              <a:t>▸  GCC Divergence Alert (&gt;2.5pp from average)</a:t>
            </a:r>
          </a:p>
          <a:p>
            <a:r>
              <a:rPr sz="850">
                <a:solidFill>
                  <a:srgbClr val="091320"/>
                </a:solidFill>
              </a:rPr>
              <a:t>▸  Target Range Alert (outside optimal band)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8" y="360273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77777"/>
                </a:solidFill>
              </a:rPr>
              <a:t>★  Generated without user prompting — the AI surfaces what matters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315968"/>
            <a:ext cx="5650992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4315968"/>
            <a:ext cx="91440" cy="21031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" y="438912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A4A"/>
                </a:solidFill>
              </a:rPr>
              <a:t>📝  EXECUTIVE SUMMARY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" y="466344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77777"/>
                </a:solidFill>
              </a:rPr>
              <a:t>Full bilingual narrative — not bullet points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4919472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091320"/>
                </a:solidFill>
              </a:rPr>
              <a:t>▸  EN: Policy-language analytical narrative</a:t>
            </a:r>
          </a:p>
          <a:p>
            <a:r>
              <a:rPr sz="850">
                <a:solidFill>
                  <a:srgbClr val="091320"/>
                </a:solidFill>
              </a:rPr>
              <a:t>▸  AR: Formal Modern Standard Arabic (MSA)</a:t>
            </a:r>
          </a:p>
          <a:p>
            <a:r>
              <a:rPr sz="850">
                <a:solidFill>
                  <a:srgbClr val="091320"/>
                </a:solidFill>
              </a:rPr>
              <a:t>▸  RTL formatted for ministerial audiences</a:t>
            </a:r>
          </a:p>
          <a:p>
            <a:r>
              <a:rPr sz="850">
                <a:solidFill>
                  <a:srgbClr val="091320"/>
                </a:solidFill>
              </a:rPr>
              <a:t>▸  8 sections including causal drivers + recommendations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" y="588873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77777"/>
                </a:solidFill>
              </a:rPr>
              <a:t>★  Ready to download in 60 seconds — suitable for cabinet briefings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315968"/>
            <a:ext cx="5650992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148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4315968"/>
            <a:ext cx="91440" cy="2103120"/>
          </a:xfrm>
          <a:prstGeom prst="rect">
            <a:avLst/>
          </a:prstGeom>
          <a:solidFill>
            <a:srgbClr val="148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64808" y="438912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8F77"/>
                </a:solidFill>
              </a:rPr>
              <a:t>🔮  GCC COMPARATIVE INTELLIGENCE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4808" y="4663440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77777"/>
                </a:solidFill>
              </a:rPr>
              <a:t>Regional peer benchmarking — automatically generated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4808" y="4919472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091320"/>
                </a:solidFill>
              </a:rPr>
              <a:t>▸  Country vs GCC average analysis</a:t>
            </a:r>
          </a:p>
          <a:p>
            <a:r>
              <a:rPr sz="850">
                <a:solidFill>
                  <a:srgbClr val="091320"/>
                </a:solidFill>
              </a:rPr>
              <a:t>▸  Regional rank position</a:t>
            </a:r>
          </a:p>
          <a:p>
            <a:r>
              <a:rPr sz="850">
                <a:solidFill>
                  <a:srgbClr val="091320"/>
                </a:solidFill>
              </a:rPr>
              <a:t>▸  Convergence / divergence narrative</a:t>
            </a:r>
          </a:p>
          <a:p>
            <a:r>
              <a:rPr sz="850">
                <a:solidFill>
                  <a:srgbClr val="091320"/>
                </a:solidFill>
              </a:rPr>
              <a:t>▸  Policy learning across nations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4808" y="588873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77777"/>
                </a:solidFill>
              </a:rPr>
              <a:t>★  Bilingual EN + AR · Identifies which countries lead on each indicator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777777"/>
                </a:solidFill>
              </a:rPr>
              <a:t>GCC AI Intelligence Platform  ·  Competition Submission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9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Model the Future Before Committing to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39B4E"/>
                </a:solidFill>
              </a:rPr>
              <a:t>Eight Strategic Presets · Elasticity-Based Policy Impact · GCC-Wide Comparative Simulation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11548872" cy="566928"/>
          </a:xfrm>
          <a:prstGeom prst="rect">
            <a:avLst/>
          </a:prstGeom>
          <a:solidFill>
            <a:srgbClr val="09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1673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39B4E"/>
                </a:solidFill>
              </a:rPr>
              <a:t>Scenario[t] = Baseline[t] + Σ(elasticity_i × delta_i) × (t / horizon)   ←  linear policy ramp over forecast horizon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938528"/>
            <a:ext cx="2788920" cy="530352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938528"/>
            <a:ext cx="2697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91320"/>
                </a:solidFill>
              </a:rPr>
              <a:t>📊  BASELINE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33801504040" y="1938528"/>
            <a:ext cx="2788920" cy="530352"/>
          </a:xfrm>
          <a:prstGeom prst="rect">
            <a:avLst/>
          </a:prstGeom>
          <a:solidFill>
            <a:srgbClr val="287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801595480" y="1938528"/>
            <a:ext cx="2697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⚡  DIGITAL ACCELERATION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67602688040" y="1938528"/>
            <a:ext cx="2788920" cy="530352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67602779480" y="1938528"/>
            <a:ext cx="2697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📉  ECONOMIC SLOWDOWN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1403872040" y="1938528"/>
            <a:ext cx="2788920" cy="530352"/>
          </a:xfrm>
          <a:prstGeom prst="rect">
            <a:avLst/>
          </a:prstGeom>
          <a:solidFill>
            <a:srgbClr val="C07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1403963480" y="1938528"/>
            <a:ext cx="2697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🔥  INFLATION STRESS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585291090528"/>
            <a:ext cx="2788920" cy="530352"/>
          </a:xfrm>
          <a:prstGeom prst="rect">
            <a:avLst/>
          </a:prstGeom>
          <a:solidFill>
            <a:srgbClr val="1A7A4A"/>
          </a:solidFill>
          <a:ln w="25400">
            <a:solidFill>
              <a:srgbClr val="C3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585291090528"/>
            <a:ext cx="2697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39B4E"/>
                </a:solidFill>
              </a:rPr>
              <a:t>🏗  REFORM EXPANSION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801504040" y="585291090528"/>
            <a:ext cx="2788920" cy="530352"/>
          </a:xfrm>
          <a:prstGeom prst="rect">
            <a:avLst/>
          </a:prstGeom>
          <a:solidFill>
            <a:srgbClr val="148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33801595480" y="585291090528"/>
            <a:ext cx="2697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🌱  YOUTH RECOVERY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7602688040" y="585291090528"/>
            <a:ext cx="2788920" cy="530352"/>
          </a:xfrm>
          <a:prstGeom prst="rect">
            <a:avLst/>
          </a:prstGeom>
          <a:solidFill>
            <a:srgbClr val="77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67602779480" y="585291090528"/>
            <a:ext cx="2697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👥  POPULATION SURGE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01403872040" y="585291090528"/>
            <a:ext cx="2788920" cy="530352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1403963480" y="585291090528"/>
            <a:ext cx="2697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🚀  HIGH GROWTH GCC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273552"/>
            <a:ext cx="11548872" cy="34747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31012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❆  ACTIVE SCENARIO: Reform Expansion — Labour market reform + education investment + GDP growth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749039"/>
            <a:ext cx="2743200" cy="2542032"/>
          </a:xfrm>
          <a:prstGeom prst="rect">
            <a:avLst/>
          </a:prstGeom>
          <a:solidFill>
            <a:srgbClr val="FFFFFF"/>
          </a:solidFill>
          <a:ln w="3175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3749039"/>
            <a:ext cx="2743200" cy="347472"/>
          </a:xfrm>
          <a:prstGeom prst="rect">
            <a:avLst/>
          </a:prstGeom>
          <a:solidFill>
            <a:srgbClr val="77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803903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BASELINE 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4251959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777777"/>
                </a:solidFill>
              </a:rPr>
              <a:t>13.8%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" y="5230367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</a:rPr>
              <a:t>Youth unemployment 2027
no intervention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18688" y="3749039"/>
            <a:ext cx="2743200" cy="2542032"/>
          </a:xfrm>
          <a:prstGeom prst="rect">
            <a:avLst/>
          </a:prstGeom>
          <a:solidFill>
            <a:srgbClr val="FFFFFF"/>
          </a:solidFill>
          <a:ln w="3175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18688" y="3749039"/>
            <a:ext cx="2743200" cy="34747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10128" y="3803903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SCENARIO END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8688" y="4251959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7A4A"/>
                </a:solidFill>
              </a:rPr>
              <a:t>11.3%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28416" y="5230367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</a:rPr>
              <a:t>Under Reform Expansion
forecast endpoint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17336" y="3749039"/>
            <a:ext cx="2743200" cy="2542032"/>
          </a:xfrm>
          <a:prstGeom prst="rect">
            <a:avLst/>
          </a:prstGeom>
          <a:solidFill>
            <a:srgbClr val="FFFFFF"/>
          </a:solidFill>
          <a:ln w="31750">
            <a:solidFill>
              <a:srgbClr val="148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17336" y="3749039"/>
            <a:ext cx="2743200" cy="347472"/>
          </a:xfrm>
          <a:prstGeom prst="rect">
            <a:avLst/>
          </a:prstGeom>
          <a:solidFill>
            <a:srgbClr val="148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08776" y="3803903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IMPROVEMENT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17336" y="4251959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48F77"/>
                </a:solidFill>
              </a:rPr>
              <a:t>−2.5pp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27064" y="5230367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</a:rPr>
              <a:t>Percentage point delta
from baseline path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015984" y="3749039"/>
            <a:ext cx="2743200" cy="2542032"/>
          </a:xfrm>
          <a:prstGeom prst="rect">
            <a:avLst/>
          </a:prstGeom>
          <a:solidFill>
            <a:srgbClr val="FFFFFF"/>
          </a:solidFill>
          <a:ln w="31750">
            <a:solidFill>
              <a:srgbClr val="C3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15984" y="3749039"/>
            <a:ext cx="2743200" cy="347472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07424" y="3803903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GCC RANK SHIFT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15984" y="4251959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39B4E"/>
                </a:solidFill>
              </a:rPr>
              <a:t>#4 → #2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25712" y="5230367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</a:rPr>
              <a:t>Saudi Arabia rises
among GCC peers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777777"/>
                </a:solidFill>
              </a:rPr>
              <a:t>GCC AI Intelligence Platform  ·  Competition Submission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9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AI That Earns Institutional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39B4E"/>
                </a:solidFill>
              </a:rPr>
              <a:t>Trust Score · Driver Intelligence · Confidence Classification · Responsible AI Centre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11548872" cy="1005840"/>
          </a:xfrm>
          <a:prstGeom prst="rect">
            <a:avLst/>
          </a:prstGeom>
          <a:solidFill>
            <a:srgbClr val="09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109728" cy="1005840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618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39B4E"/>
                </a:solidFill>
              </a:rPr>
              <a:t>TRUST INTELLIGENCE HEADER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572768"/>
            <a:ext cx="1097280" cy="566928"/>
          </a:xfrm>
          <a:prstGeom prst="rect">
            <a:avLst/>
          </a:prstGeom>
          <a:solidFill>
            <a:srgbClr val="C07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72768"/>
            <a:ext cx="1097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74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71907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/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82496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MODERATE CONFIDENCE  ·  LightGBM  ·  sMAPE 6.2%  ·  Saudi Arabia  ·  Youth Unemployment  ·  3-Year Horizon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377440"/>
            <a:ext cx="5650992" cy="1993392"/>
          </a:xfrm>
          <a:prstGeom prst="rect">
            <a:avLst/>
          </a:prstGeom>
          <a:solidFill>
            <a:srgbClr val="FFFFFF"/>
          </a:solidFill>
          <a:ln w="25400">
            <a:solidFill>
              <a:srgbClr val="C3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2377440"/>
            <a:ext cx="5650992" cy="420624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" y="2450592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🎯  TRUST SCORE  0–100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889504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091320"/>
                </a:solidFill>
              </a:rPr>
              <a:t>▸  Composite from sMAPE + interval width + volatility + horizon</a:t>
            </a:r>
          </a:p>
          <a:p>
            <a:r>
              <a:rPr sz="900">
                <a:solidFill>
                  <a:srgbClr val="091320"/>
                </a:solidFill>
              </a:rPr>
              <a:t>▸  sMAPE &lt; 5% → +20pts  ·  &gt; 20% → −22pts</a:t>
            </a:r>
          </a:p>
          <a:p>
            <a:r>
              <a:rPr sz="900">
                <a:solidFill>
                  <a:srgbClr val="091320"/>
                </a:solidFill>
              </a:rPr>
              <a:t>▸  Short horizon ≤ 2yr → +10pts bonus</a:t>
            </a:r>
          </a:p>
          <a:p>
            <a:r>
              <a:rPr sz="900">
                <a:solidFill>
                  <a:srgbClr val="091320"/>
                </a:solidFill>
              </a:rPr>
              <a:t>▸  Policymakers see a single reliable signal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377440"/>
            <a:ext cx="5650992" cy="1993392"/>
          </a:xfrm>
          <a:prstGeom prst="rect">
            <a:avLst/>
          </a:prstGeom>
          <a:solidFill>
            <a:srgbClr val="FFFFFF"/>
          </a:solidFill>
          <a:ln w="25400">
            <a:solidFill>
              <a:srgbClr val="287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2377440"/>
            <a:ext cx="5650992" cy="420624"/>
          </a:xfrm>
          <a:prstGeom prst="rect">
            <a:avLst/>
          </a:prstGeom>
          <a:solidFill>
            <a:srgbClr val="287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2450592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🔑  DRIVER INTELLIGENCE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889504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091320"/>
                </a:solidFill>
              </a:rPr>
              <a:t>▸  LightGBM feature importances → policy narratives</a:t>
            </a:r>
          </a:p>
          <a:p>
            <a:r>
              <a:rPr sz="900">
                <a:solidFill>
                  <a:srgbClr val="091320"/>
                </a:solidFill>
              </a:rPr>
              <a:t>▸  Rank 1: Recent Historical Level (34% influence)</a:t>
            </a:r>
          </a:p>
          <a:p>
            <a:r>
              <a:rPr sz="900">
                <a:solidFill>
                  <a:srgbClr val="091320"/>
                </a:solidFill>
              </a:rPr>
              <a:t>▸  Rank 2: Short-Term Trend Momentum (21%)</a:t>
            </a:r>
          </a:p>
          <a:p>
            <a:r>
              <a:rPr sz="900">
                <a:solidFill>
                  <a:srgbClr val="091320"/>
                </a:solidFill>
              </a:rPr>
              <a:t>▸  14 feature patterns mapped to bilingual explanations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4526280"/>
            <a:ext cx="5650992" cy="1993392"/>
          </a:xfrm>
          <a:prstGeom prst="rect">
            <a:avLst/>
          </a:prstGeom>
          <a:solidFill>
            <a:srgbClr val="FFFFFF"/>
          </a:solidFill>
          <a:ln w="2540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4526280"/>
            <a:ext cx="5650992" cy="420624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" y="4599432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📐  CONFIDENCE TIERS A–E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38344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091320"/>
                </a:solidFill>
              </a:rPr>
              <a:t>▸  A (≥85): High Confidence — strategic planning</a:t>
            </a:r>
          </a:p>
          <a:p>
            <a:r>
              <a:rPr sz="900">
                <a:solidFill>
                  <a:srgbClr val="091320"/>
                </a:solidFill>
              </a:rPr>
              <a:t>▸  B (≥70): Moderate Confidence — directionally reliable</a:t>
            </a:r>
          </a:p>
          <a:p>
            <a:r>
              <a:rPr sz="900">
                <a:solidFill>
                  <a:srgbClr val="091320"/>
                </a:solidFill>
              </a:rPr>
              <a:t>▸  C (≥55): Elevated Uncertainty — use with scenarios</a:t>
            </a:r>
          </a:p>
          <a:p>
            <a:r>
              <a:rPr sz="900">
                <a:solidFill>
                  <a:srgbClr val="091320"/>
                </a:solidFill>
              </a:rPr>
              <a:t>▸  D/E (&lt;55/40): Volatile — indicative only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4526280"/>
            <a:ext cx="5650992" cy="1993392"/>
          </a:xfrm>
          <a:prstGeom prst="rect">
            <a:avLst/>
          </a:prstGeom>
          <a:solidFill>
            <a:srgbClr val="FFFFFF"/>
          </a:solidFill>
          <a:ln w="25400">
            <a:solidFill>
              <a:srgbClr val="148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4526280"/>
            <a:ext cx="5650992" cy="420624"/>
          </a:xfrm>
          <a:prstGeom prst="rect">
            <a:avLst/>
          </a:prstGeom>
          <a:solidFill>
            <a:srgbClr val="148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2" y="4599432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🛡  RESPONSIBLE AI CENTRE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5038344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091320"/>
                </a:solidFill>
              </a:rPr>
              <a:t>▸  Data Sources &amp; Provenance documentation</a:t>
            </a:r>
          </a:p>
          <a:p>
            <a:r>
              <a:rPr sz="900">
                <a:solidFill>
                  <a:srgbClr val="091320"/>
                </a:solidFill>
              </a:rPr>
              <a:t>▸  6 structured Forecast Limitation caveats</a:t>
            </a:r>
          </a:p>
          <a:p>
            <a:r>
              <a:rPr sz="900">
                <a:solidFill>
                  <a:srgbClr val="091320"/>
                </a:solidFill>
              </a:rPr>
              <a:t>▸  Responsible Decision Support principles</a:t>
            </a:r>
          </a:p>
          <a:p>
            <a:r>
              <a:rPr sz="900">
                <a:solidFill>
                  <a:srgbClr val="091320"/>
                </a:solidFill>
              </a:rPr>
              <a:t>▸  Platform Governance Statement — audit-ready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777777"/>
                </a:solidFill>
              </a:rPr>
              <a:t>GCC AI Intelligence Platform  ·  Competition Submission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9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Designed for Decision-Makers, Not Data Scientists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39B4E"/>
                </a:solidFill>
              </a:rPr>
              <a:t>Six-Page Executive Dashboard · Guided Demo Flow · Bilingual UI · Four Export Formats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11548872" cy="4572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16736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39B4E"/>
                </a:solidFill>
              </a:rPr>
              <a:t>SIX-STEP STRATEGIC INTELLIGENCE 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783080"/>
            <a:ext cx="1828800" cy="420624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783080"/>
            <a:ext cx="365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91320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56232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91320"/>
                </a:solidFill>
              </a:rPr>
              <a:t>🌍 GCC OVERVIEW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203704"/>
            <a:ext cx="18288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3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286000"/>
            <a:ext cx="166420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91320"/>
                </a:solidFill>
              </a:rPr>
              <a:t>Regional intelligence
AI risk badges
Heatmap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7128" y="2331720"/>
            <a:ext cx="1280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4F72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04288" y="1783080"/>
            <a:ext cx="1828800" cy="420624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04288" y="1783080"/>
            <a:ext cx="365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91320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88336" y="1856232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91320"/>
                </a:solidFill>
              </a:rPr>
              <a:t>🔍 COUNTRY EXPLORER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04288" y="2203704"/>
            <a:ext cx="18288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3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95728" y="2286000"/>
            <a:ext cx="166420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91320"/>
                </a:solidFill>
              </a:rPr>
              <a:t>Deep-dive KPIs
Trend analysis
AI alerts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2331720"/>
            <a:ext cx="1280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4F72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88536" y="1783080"/>
            <a:ext cx="1828800" cy="420624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88536" y="1783080"/>
            <a:ext cx="365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91320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1856232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91320"/>
                </a:solidFill>
              </a:rPr>
              <a:t>📈 FORECAST CENTER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88536" y="2203704"/>
            <a:ext cx="18288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3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79976" y="2286000"/>
            <a:ext cx="166420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91320"/>
                </a:solidFill>
              </a:rPr>
              <a:t>6-model AI
Trust score
Confidence card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35624" y="2331720"/>
            <a:ext cx="1280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4F72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72783" y="1783080"/>
            <a:ext cx="1828800" cy="420624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72783" y="1783080"/>
            <a:ext cx="365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91320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56831" y="1856232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91320"/>
                </a:solidFill>
              </a:rPr>
              <a:t>🤖 AI INSIGHTS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72783" y="2203704"/>
            <a:ext cx="18288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3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3" y="2286000"/>
            <a:ext cx="166420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91320"/>
                </a:solidFill>
              </a:rPr>
              <a:t>Executive brief
EN + AR report
Download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9871" y="2331720"/>
            <a:ext cx="1280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4F72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57031" y="1783080"/>
            <a:ext cx="1828800" cy="420624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57031" y="1783080"/>
            <a:ext cx="365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91320"/>
                </a:solidFill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79" y="1856232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91320"/>
                </a:solidFill>
              </a:rPr>
              <a:t>⚙️ SCENARIO SIM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57031" y="2203704"/>
            <a:ext cx="18288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3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48471" y="2286000"/>
            <a:ext cx="166420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91320"/>
                </a:solidFill>
              </a:rPr>
              <a:t>8 policy presets
GCC rank shift
Impact report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04119" y="2331720"/>
            <a:ext cx="1280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4F72"/>
                </a:solidFill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241280" y="1783080"/>
            <a:ext cx="1828800" cy="420624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41280" y="1783080"/>
            <a:ext cx="365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91320"/>
                </a:solidFill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25328" y="1856232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91320"/>
                </a:solidFill>
              </a:rPr>
              <a:t>🔬 EXPLAINABILITY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241280" y="2203704"/>
            <a:ext cx="18288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39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332720" y="2286000"/>
            <a:ext cx="166420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91320"/>
                </a:solidFill>
              </a:rPr>
              <a:t>Driver intel
Transparency
Responsible AI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3611880"/>
            <a:ext cx="758952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0040" y="3611880"/>
            <a:ext cx="7589520" cy="36576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657600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UX DESIGN PRINCIPLES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4069080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6112" y="40690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91320"/>
                </a:solidFill>
              </a:rPr>
              <a:t>Clarity over density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" y="4288536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</a:rPr>
              <a:t>Strategic narrative over raw metrics — every KPI is contextualised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4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6112" y="453542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91320"/>
                </a:solidFill>
              </a:rPr>
              <a:t>Premium visual system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4754880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</a:rPr>
              <a:t>Navy/gold brand · KPI cards · Alert cards · Executive summaries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5001768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6112" y="500176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91320"/>
                </a:solidFill>
              </a:rPr>
              <a:t>Bilingual first-class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2" y="522122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</a:rPr>
              <a:t>Arabic RTL not an afterthought — a core design requirement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5468112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" y="54681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91320"/>
                </a:solidFill>
              </a:rPr>
              <a:t>Guided navigation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2" y="5687568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</a:rPr>
              <a:t>Next-step CTAs guide judges through the platform without instruction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5934456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2" y="593445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91320"/>
                </a:solidFill>
              </a:rPr>
              <a:t>Instant exports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6112" y="6153912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</a:rPr>
              <a:t>EN brief · EN intel report · AR intel report · Forecast CSV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92440" y="3611880"/>
            <a:ext cx="3794760" cy="2852928"/>
          </a:xfrm>
          <a:prstGeom prst="rect">
            <a:avLst/>
          </a:prstGeom>
          <a:solidFill>
            <a:srgbClr val="F4F6F9"/>
          </a:solidFill>
          <a:ln w="1270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83879" y="3749039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777777"/>
                </a:solidFill>
              </a:rPr>
              <a:t>[ SCREENSHOT ]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83879" y="4160520"/>
            <a:ext cx="3611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777777"/>
                </a:solidFill>
              </a:rPr>
              <a:t>GCC Overview — Hero
All 6 countries populated
Youth unemployment selected
AI risk badges visible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83879" y="6053328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C39B4E"/>
                </a:solidFill>
              </a:rPr>
              <a:t>Replace with platform screenshot for maximum impact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777777"/>
                </a:solidFill>
              </a:rPr>
              <a:t>GCC AI Intelligence Platform  ·  Competition Submission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9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Strategic Value for GCC Decision-Makers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39B4E"/>
                </a:solidFill>
              </a:rPr>
              <a:t>Immediate · Regional · Long-Term — Three Layers of Societal Impact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98448"/>
            <a:ext cx="3749039" cy="475488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35331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🏛  MINISTRY PLANNERS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792224"/>
            <a:ext cx="3749039" cy="38404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819656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77777"/>
                </a:solidFill>
              </a:rPr>
              <a:t>GCC Ministries of Labour, Human Resources Development, National Planning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194560"/>
            <a:ext cx="3749039" cy="3675887"/>
          </a:xfrm>
          <a:prstGeom prst="rect">
            <a:avLst/>
          </a:prstGeom>
          <a:solidFill>
            <a:srgbClr val="FFFFFF"/>
          </a:solidFill>
          <a:ln w="2540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" y="2331720"/>
            <a:ext cx="34290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91320"/>
                </a:solidFill>
              </a:rPr>
              <a:t>▸  Evidence-based forecasting replacing intuition</a:t>
            </a:r>
          </a:p>
          <a:p>
            <a:r>
              <a:rPr sz="1000">
                <a:solidFill>
                  <a:srgbClr val="091320"/>
                </a:solidFill>
              </a:rPr>
              <a:t>▸  Scenario testing before budget commitment</a:t>
            </a:r>
          </a:p>
          <a:p>
            <a:r>
              <a:rPr sz="1000">
                <a:solidFill>
                  <a:srgbClr val="091320"/>
                </a:solidFill>
              </a:rPr>
              <a:t>▸  Bilingual intelligence reports ready for cabinet briefings</a:t>
            </a:r>
          </a:p>
          <a:p>
            <a:r>
              <a:rPr sz="1000">
                <a:solidFill>
                  <a:srgbClr val="091320"/>
                </a:solidFill>
              </a:rPr>
              <a:t>▸  Aligned with Vision 2030, UAE Centennial, QNV 2030</a:t>
            </a:r>
          </a:p>
          <a:p>
            <a:r>
              <a:rPr sz="1000">
                <a:solidFill>
                  <a:srgbClr val="091320"/>
                </a:solidFill>
              </a:rPr>
              <a:t>▸  Strategic alerts surface issues before they escalate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1298448"/>
            <a:ext cx="3749039" cy="475488"/>
          </a:xfrm>
          <a:prstGeom prst="rect">
            <a:avLst/>
          </a:prstGeom>
          <a:solidFill>
            <a:srgbClr val="287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6" y="135331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📊  STATISTICAL AGENCIES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1792224"/>
            <a:ext cx="3749039" cy="38404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9976" y="1819656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77777"/>
                </a:solidFill>
              </a:rPr>
              <a:t>National Statistical Centres, GCC-STAT, Labour Market Observatories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0248" y="2194560"/>
            <a:ext cx="3749039" cy="3675887"/>
          </a:xfrm>
          <a:prstGeom prst="rect">
            <a:avLst/>
          </a:prstGeom>
          <a:solidFill>
            <a:srgbClr val="FFFFFF"/>
          </a:solidFill>
          <a:ln w="25400">
            <a:solidFill>
              <a:srgbClr val="287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2331720"/>
            <a:ext cx="34290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91320"/>
                </a:solidFill>
              </a:rPr>
              <a:t>▸  Unified regional data aggregation platform</a:t>
            </a:r>
          </a:p>
          <a:p>
            <a:r>
              <a:rPr sz="1000">
                <a:solidFill>
                  <a:srgbClr val="091320"/>
                </a:solidFill>
              </a:rPr>
              <a:t>▸  Cross-country benchmarking with GCC averages</a:t>
            </a:r>
          </a:p>
          <a:p>
            <a:r>
              <a:rPr sz="1000">
                <a:solidFill>
                  <a:srgbClr val="091320"/>
                </a:solidFill>
              </a:rPr>
              <a:t>▸  Exportable validated data tables (CSV)</a:t>
            </a:r>
          </a:p>
          <a:p>
            <a:r>
              <a:rPr sz="1000">
                <a:solidFill>
                  <a:srgbClr val="091320"/>
                </a:solidFill>
              </a:rPr>
              <a:t>▸  World Bank certified indicator codes</a:t>
            </a:r>
          </a:p>
          <a:p>
            <a:r>
              <a:rPr sz="1000">
                <a:solidFill>
                  <a:srgbClr val="091320"/>
                </a:solidFill>
              </a:rPr>
              <a:t>▸  Offline-capable for field and low-connectivity use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0456" y="1298448"/>
            <a:ext cx="3749039" cy="475488"/>
          </a:xfrm>
          <a:prstGeom prst="rect">
            <a:avLst/>
          </a:prstGeom>
          <a:solidFill>
            <a:srgbClr val="148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0184" y="135331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🌍  GCC SECRETARIAT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0456" y="1792224"/>
            <a:ext cx="3749039" cy="38404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0184" y="1819656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77777"/>
                </a:solidFill>
              </a:rPr>
              <a:t>Regional Policy Coordination, Arab Monetary Fund, Multilateral Bodies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0456" y="2194560"/>
            <a:ext cx="3749039" cy="3675887"/>
          </a:xfrm>
          <a:prstGeom prst="rect">
            <a:avLst/>
          </a:prstGeom>
          <a:solidFill>
            <a:srgbClr val="FFFFFF"/>
          </a:solidFill>
          <a:ln w="25400">
            <a:solidFill>
              <a:srgbClr val="148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5048" y="2331720"/>
            <a:ext cx="34290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91320"/>
                </a:solidFill>
              </a:rPr>
              <a:t>▸  Six-nation intelligence in one platform</a:t>
            </a:r>
          </a:p>
          <a:p>
            <a:r>
              <a:rPr sz="1000">
                <a:solidFill>
                  <a:srgbClr val="091320"/>
                </a:solidFill>
              </a:rPr>
              <a:t>▸  Comparative scenario analysis across all GCC states</a:t>
            </a:r>
          </a:p>
          <a:p>
            <a:r>
              <a:rPr sz="1000">
                <a:solidFill>
                  <a:srgbClr val="091320"/>
                </a:solidFill>
              </a:rPr>
              <a:t>▸  Regional convergence / divergence tracking</a:t>
            </a:r>
          </a:p>
          <a:p>
            <a:r>
              <a:rPr sz="1000">
                <a:solidFill>
                  <a:srgbClr val="091320"/>
                </a:solidFill>
              </a:rPr>
              <a:t>▸  Policy learning: which countries lead, which lag</a:t>
            </a:r>
          </a:p>
          <a:p>
            <a:r>
              <a:rPr sz="1000">
                <a:solidFill>
                  <a:srgbClr val="091320"/>
                </a:solidFill>
              </a:rPr>
              <a:t>▸  Institutional AI governance documentation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0913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03504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39B4E"/>
                </a:solidFill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38251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Nations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21408" y="603504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39B4E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21408" y="638251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Indicators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02736" y="603504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39B4E"/>
                </a:solidFill>
              </a:rPr>
              <a:t>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02736" y="638251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Years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84064" y="603504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39B4E"/>
                </a:solidFill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84064" y="638251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AI Models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603504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39B4E"/>
                </a:solidFill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65392" y="638251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Scenarios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0" y="603504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39B4E"/>
                </a:solidFill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638251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Languages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28048" y="603504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39B4E"/>
                </a:solidFill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28048" y="638251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Exports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03504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39B4E"/>
                </a:solidFill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09376" y="638251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Platform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234440"/>
          </a:xfrm>
          <a:prstGeom prst="rect">
            <a:avLst/>
          </a:prstGeom>
          <a:solidFill>
            <a:srgbClr val="0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Production-Ready  ·  Policy-Relevant  ·  Regionally Scalable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22960"/>
            <a:ext cx="7772400" cy="45720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91440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39B4E"/>
                </a:solidFill>
              </a:rPr>
              <a:t>GCC AI Intelligence Platform  ·  Competition Submission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5074920" cy="416052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39B4E"/>
                </a:solidFill>
              </a:rPr>
              <a:t>WHAT WE 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74519"/>
            <a:ext cx="466344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FFFFFF"/>
                </a:solidFill>
              </a:rPr>
              <a:t>✅  Real World Bank data pipeline (5 indicators · 6 nations · 15 years)</a:t>
            </a:r>
          </a:p>
          <a:p>
            <a:r>
              <a:rPr sz="950">
                <a:solidFill>
                  <a:srgbClr val="FFFFFF"/>
                </a:solidFill>
              </a:rPr>
              <a:t>✅  6-model AI forecasting engine with automatic sMAPE selection</a:t>
            </a:r>
          </a:p>
          <a:p>
            <a:r>
              <a:rPr sz="950">
                <a:solidFill>
                  <a:srgbClr val="FFFFFF"/>
                </a:solidFill>
              </a:rPr>
              <a:t>✅  Bilingual executive intelligence — English &amp; Arabic in parallel</a:t>
            </a:r>
          </a:p>
          <a:p>
            <a:r>
              <a:rPr sz="950">
                <a:solidFill>
                  <a:srgbClr val="FFFFFF"/>
                </a:solidFill>
              </a:rPr>
              <a:t>✅  8 strategic scenario presets with GCC-wide rank simulation</a:t>
            </a:r>
          </a:p>
          <a:p>
            <a:r>
              <a:rPr sz="950">
                <a:solidFill>
                  <a:srgbClr val="FFFFFF"/>
                </a:solidFill>
              </a:rPr>
              <a:t>✅  Trust scoring (0–100) + confidence classification (A–E tiers)</a:t>
            </a:r>
          </a:p>
          <a:p>
            <a:r>
              <a:rPr sz="950">
                <a:solidFill>
                  <a:srgbClr val="FFFFFF"/>
                </a:solidFill>
              </a:rPr>
              <a:t>✅  LightGBM driver intelligence → bilingual policy narratives</a:t>
            </a:r>
          </a:p>
          <a:p>
            <a:r>
              <a:rPr sz="950">
                <a:solidFill>
                  <a:srgbClr val="FFFFFF"/>
                </a:solidFill>
              </a:rPr>
              <a:t>✅  Responsible AI centre — caveats, governance, transparency</a:t>
            </a:r>
          </a:p>
          <a:p>
            <a:r>
              <a:rPr sz="950">
                <a:solidFill>
                  <a:srgbClr val="FFFFFF"/>
                </a:solidFill>
              </a:rPr>
              <a:t>✅  One-click deployment · offline-capable · production-ready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50992" y="1325880"/>
            <a:ext cx="6217920" cy="4160520"/>
          </a:xfrm>
          <a:prstGeom prst="rect">
            <a:avLst/>
          </a:prstGeom>
          <a:solidFill>
            <a:srgbClr val="0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33872" y="14173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39B4E"/>
                </a:solidFill>
              </a:rPr>
              <a:t>WHAT COMES NEXT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33872" y="1874519"/>
            <a:ext cx="585216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C39B4E"/>
                </a:solidFill>
              </a:rPr>
              <a:t>🔜  HIGH  </a:t>
            </a:r>
            <a:r>
              <a:rPr sz="900">
                <a:solidFill>
                  <a:srgbClr val="FFFFFF"/>
                </a:solidFill>
              </a:rPr>
              <a:t>LLM-powered adaptive narratives — Arabic/English policy AI</a:t>
            </a:r>
          </a:p>
          <a:p>
            <a:r>
              <a:rPr sz="800">
                <a:solidFill>
                  <a:srgbClr val="C39B4E"/>
                </a:solidFill>
              </a:rPr>
              <a:t>🔜  HIGH  </a:t>
            </a:r>
            <a:r>
              <a:rPr sz="900">
                <a:solidFill>
                  <a:srgbClr val="FFFFFF"/>
                </a:solidFill>
              </a:rPr>
              <a:t>Quarterly data frequency via IMF/OECD integration</a:t>
            </a:r>
          </a:p>
          <a:p>
            <a:r>
              <a:rPr sz="800">
                <a:solidFill>
                  <a:srgbClr val="C39B4E"/>
                </a:solidFill>
              </a:rPr>
              <a:t>🔜  HIGH  </a:t>
            </a:r>
            <a:r>
              <a:rPr sz="900">
                <a:solidFill>
                  <a:srgbClr val="FFFFFF"/>
                </a:solidFill>
              </a:rPr>
              <a:t>Econometrically-estimated GCC-panel elasticities (VAR/ARDL)</a:t>
            </a:r>
          </a:p>
          <a:p>
            <a:r>
              <a:rPr sz="800">
                <a:solidFill>
                  <a:srgbClr val="C39B4E"/>
                </a:solidFill>
              </a:rPr>
              <a:t>🔜  MED  </a:t>
            </a:r>
            <a:r>
              <a:rPr sz="900">
                <a:solidFill>
                  <a:srgbClr val="FFFFFF"/>
                </a:solidFill>
              </a:rPr>
              <a:t>PDF export with Ministry-branded layouts (ReportLab)</a:t>
            </a:r>
          </a:p>
          <a:p>
            <a:r>
              <a:rPr sz="800">
                <a:solidFill>
                  <a:srgbClr val="C39B4E"/>
                </a:solidFill>
              </a:rPr>
              <a:t>🔜  MED  </a:t>
            </a:r>
            <a:r>
              <a:rPr sz="900">
                <a:solidFill>
                  <a:srgbClr val="FFFFFF"/>
                </a:solidFill>
              </a:rPr>
              <a:t>REST API layer for GCC government data portal integration</a:t>
            </a:r>
          </a:p>
          <a:p>
            <a:r>
              <a:rPr sz="800">
                <a:solidFill>
                  <a:srgbClr val="C39B4E"/>
                </a:solidFill>
              </a:rPr>
              <a:t>🔜  MED  </a:t>
            </a:r>
            <a:r>
              <a:rPr sz="900">
                <a:solidFill>
                  <a:srgbClr val="FFFFFF"/>
                </a:solidFill>
              </a:rPr>
              <a:t>Real-time push alerts when World Bank data triggers changes</a:t>
            </a:r>
          </a:p>
          <a:p>
            <a:r>
              <a:rPr sz="800">
                <a:solidFill>
                  <a:srgbClr val="C39B4E"/>
                </a:solidFill>
              </a:rPr>
              <a:t>🔜  LOW  </a:t>
            </a:r>
            <a:r>
              <a:rPr sz="900">
                <a:solidFill>
                  <a:srgbClr val="FFFFFF"/>
                </a:solidFill>
              </a:rPr>
              <a:t>MENA-wide coverage extension (15+ countries)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577840"/>
            <a:ext cx="11548872" cy="960120"/>
          </a:xfrm>
          <a:prstGeom prst="rect">
            <a:avLst/>
          </a:prstGeom>
          <a:solidFill>
            <a:srgbClr val="C39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650992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1">
                <a:solidFill>
                  <a:srgbClr val="091320"/>
                </a:solidFill>
              </a:rPr>
              <a:t>"An AI-powered GCC strategic intelligence platform for youth employment forecasting and evidence-based policy planning —
transparent, bilingual, and institutionally ready for the people shaping the workforce future of 60 million people across the Gulf."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